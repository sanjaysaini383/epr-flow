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e0bea2c-0d99-0b9b-aa03-a9eaa679eea0}">
          <p14:sldIdLst>
            <p14:sldId id="256"/>
            <p14:sldId id="257"/>
            <p14:sldId id="258"/>
            <p14:sldId id="259"/>
          </p14:sldIdLst>
        </p14:section>
        <p14:section name="Live today" id="{e57a22b1-a8e4-786c-2a15-240cdabe3aac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atform" id="{a990ba4d-0cf7-a584-9711-e49de18b2d07}">
          <p14:sldIdLst>
            <p14:sldId id="266"/>
            <p14:sldId id="267"/>
          </p14:sldIdLst>
        </p14:section>
        <p14:section name="Roadmap" id="{bbed20cf-6c27-af54-da90-719e01283733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EPRFlow is a B2B SaaS that helps Indian PIBOs — producers, importers and brand owners — manage Extended Producer Responsibility compliance in one place instead of spreadsheets, consultants and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obligations are clear, but the tooling is not. Most companies manage this in Excel, through consultants and email — leading to calculation errors, missed filings, fake or duplicate certificates and no visibility across brands, plants and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kinds of users. Admin, Compliance Manager, Consultant and Viewer roles are live today with enforced permissions. Recyclers join in the marketplace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platform covers six modules. The foundation — organisations, roles, onboarding, audit and security — is live today. The remaining modules ship phase by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this section is running today and shown in the 4-minute demo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wizard: company details, GST registrations and brands. Inputs are validated with clear messages — for example an invalid GSTIN checksum is rejected before it ever reaches the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puts the financial year front and centre. In phase 3 the compliance score card fills in with category-wise progress, shortfall and Environmental Compensation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Admins invite teammates by email or link — tokens are stored hashed and expire in 7 days. The audit log shows every invite, join, role change and profile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Consultants switch between client organisations from the sidebar. Each client's data is fully isolated: every database query is scoped by organisation and access is checked on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Light, dark and system themes across the landing page, auth screens and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is built in from the first phase, not bolted on. These protections are covered by automated tests: 33 unit tests and 13 end-to-end browser tests, including tenant isolation, CSP headers and open-redirect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Fully serverless: Next.js on Vercel, Postgres on Neon with Prisma. Regulatory rules live in a versioned database table — never hard-coded — so yearly CPCB changes are a data update, not a code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1 are complete. Phase 2, material data entry and CSV/Excel import, is next. Each phase ships working, tested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subscription tiers, with pricing to be finalised before launch. A recycler marketplace adds a commission-based revenue stream in a later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demo video, then discuss next steps: Phase 2 brings material data entry and CSV/Excel import.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5486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EPRFlow  ·  Product overview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PRODUCT OVERVIEW  ·  2026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488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EPRFlow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747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EPR compliance for Indian producers, importers and brand owners</a:t>
            </a:r>
            <a:endParaRPr lang="en-US" sz="2200" dirty="0"/>
          </a:p>
        </p:txBody>
      </p:sp>
      <p:sp>
        <p:nvSpPr>
          <p:cNvPr id="5" name="rules"/>
          <p:cNvSpPr txBox="1"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Plastic · E-Waste · Battery Waste Management Rules</a:t>
            </a:r>
            <a:endParaRPr lang="en-US" sz="1400" dirty="0"/>
          </a:p>
        </p:txBody>
      </p:sp>
      <p:sp>
        <p:nvSpPr>
          <p:cNvPr id="6" name="hero-shot-frame"/>
          <p:cNvSpPr/>
          <p:nvPr/>
        </p:nvSpPr>
        <p:spPr>
          <a:xfrm>
            <a:off x="6665976" y="1408176"/>
            <a:ext cx="5047488" cy="3195828"/>
          </a:xfrm>
          <a:prstGeom prst="roundRect">
            <a:avLst>
              <a:gd name="adj" fmla="val 2289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7" name="hero-shot" descr="hero-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EPR compliance still runs on spreadsheets and email</a:t>
            </a:r>
            <a:endParaRPr lang="en-US" sz="3200" dirty="0"/>
          </a:p>
        </p:txBody>
      </p:sp>
      <p:sp>
        <p:nvSpPr>
          <p:cNvPr id="3" name="rules-list"/>
          <p:cNvSpPr txBox="1"/>
          <p:nvPr/>
        </p:nvSpPr>
        <p:spPr>
          <a:xfrm>
            <a:off x="548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Under the 2022 EPR rules, every producer, importer and brand owner must: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Register on the CPCB centralised EPR portal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Report material placed on the market, by category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Meet annual targets by buying EPR certificates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File annual returns — or pay Environmental Compensation</a:t>
            </a:r>
            <a:endParaRPr lang="en-US" sz="1600" dirty="0"/>
          </a:p>
        </p:txBody>
      </p:sp>
      <p:sp>
        <p:nvSpPr>
          <p:cNvPr id="4" name="penalty"/>
          <p:cNvSpPr/>
          <p:nvPr/>
        </p:nvSpPr>
        <p:spPr>
          <a:xfrm>
            <a:off x="548640" y="4709160"/>
            <a:ext cx="42062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5" name="penalty-badge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penalty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5115154"/>
            <a:ext cx="285293" cy="285293"/>
          </a:xfrm>
          <a:prstGeom prst="rect">
            <a:avLst/>
          </a:prstGeom>
        </p:spPr>
      </p:pic>
      <p:sp>
        <p:nvSpPr>
          <p:cNvPr id="7" name="penalty-text"/>
          <p:cNvSpPr txBox="1"/>
          <p:nvPr/>
        </p:nvSpPr>
        <p:spPr>
          <a:xfrm>
            <a:off x="1554480" y="4892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cost of getting it wrong: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shortfall against target attracts Environmental Compensation — a direct financial penalty.</a:t>
            </a:r>
            <a:endParaRPr lang="en-US" sz="1400" dirty="0"/>
          </a:p>
        </p:txBody>
      </p:sp>
      <p:sp>
        <p:nvSpPr>
          <p:cNvPr id="8" name="pain-0"/>
          <p:cNvSpPr/>
          <p:nvPr/>
        </p:nvSpPr>
        <p:spPr>
          <a:xfrm>
            <a:off x="5212080" y="1417320"/>
            <a:ext cx="30815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9" name="pain-0-badge"/>
          <p:cNvSpPr/>
          <p:nvPr/>
        </p:nvSpPr>
        <p:spPr>
          <a:xfrm>
            <a:off x="548640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pain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074" y="1823314"/>
            <a:ext cx="285293" cy="285293"/>
          </a:xfrm>
          <a:prstGeom prst="rect">
            <a:avLst/>
          </a:prstGeom>
        </p:spPr>
      </p:pic>
      <p:sp>
        <p:nvSpPr>
          <p:cNvPr id="11" name="pain-0-title"/>
          <p:cNvSpPr txBox="1"/>
          <p:nvPr/>
        </p:nvSpPr>
        <p:spPr>
          <a:xfrm>
            <a:off x="5486400" y="2423160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Wrong calculations</a:t>
            </a:r>
            <a:endParaRPr lang="en-US" sz="1800" dirty="0"/>
          </a:p>
        </p:txBody>
      </p:sp>
      <p:sp>
        <p:nvSpPr>
          <p:cNvPr id="12" name="pain-0-body"/>
          <p:cNvSpPr txBox="1"/>
          <p:nvPr/>
        </p:nvSpPr>
        <p:spPr>
          <a:xfrm>
            <a:off x="5486400" y="2834640"/>
            <a:ext cx="253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Targets worked out by hand in Excel, per category and state.</a:t>
            </a:r>
            <a:endParaRPr lang="en-US" sz="1400" dirty="0"/>
          </a:p>
        </p:txBody>
      </p:sp>
      <p:sp>
        <p:nvSpPr>
          <p:cNvPr id="13" name="pain-1"/>
          <p:cNvSpPr/>
          <p:nvPr/>
        </p:nvSpPr>
        <p:spPr>
          <a:xfrm>
            <a:off x="8567928" y="1417320"/>
            <a:ext cx="30815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4" name="pain-1-badge"/>
          <p:cNvSpPr/>
          <p:nvPr/>
        </p:nvSpPr>
        <p:spPr>
          <a:xfrm>
            <a:off x="8842248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pain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3922" y="1823314"/>
            <a:ext cx="285293" cy="285293"/>
          </a:xfrm>
          <a:prstGeom prst="rect">
            <a:avLst/>
          </a:prstGeom>
        </p:spPr>
      </p:pic>
      <p:sp>
        <p:nvSpPr>
          <p:cNvPr id="16" name="pain-1-title"/>
          <p:cNvSpPr txBox="1"/>
          <p:nvPr/>
        </p:nvSpPr>
        <p:spPr>
          <a:xfrm>
            <a:off x="8842248" y="2423160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Missed deadlines</a:t>
            </a:r>
            <a:endParaRPr lang="en-US" sz="1800" dirty="0"/>
          </a:p>
        </p:txBody>
      </p:sp>
      <p:sp>
        <p:nvSpPr>
          <p:cNvPr id="17" name="pain-1-body"/>
          <p:cNvSpPr txBox="1"/>
          <p:nvPr/>
        </p:nvSpPr>
        <p:spPr>
          <a:xfrm>
            <a:off x="8842248" y="2834640"/>
            <a:ext cx="253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Quarterly and annual returns tracked in inboxes and calendars.</a:t>
            </a:r>
            <a:endParaRPr lang="en-US" sz="1400" dirty="0"/>
          </a:p>
        </p:txBody>
      </p:sp>
      <p:sp>
        <p:nvSpPr>
          <p:cNvPr id="18" name="pain-2"/>
          <p:cNvSpPr/>
          <p:nvPr/>
        </p:nvSpPr>
        <p:spPr>
          <a:xfrm>
            <a:off x="5212080" y="3931920"/>
            <a:ext cx="30815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pain-2-badge"/>
          <p:cNvSpPr/>
          <p:nvPr/>
        </p:nvSpPr>
        <p:spPr>
          <a:xfrm>
            <a:off x="5486400" y="4206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pain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8074" y="4337914"/>
            <a:ext cx="285293" cy="285293"/>
          </a:xfrm>
          <a:prstGeom prst="rect">
            <a:avLst/>
          </a:prstGeom>
        </p:spPr>
      </p:pic>
      <p:sp>
        <p:nvSpPr>
          <p:cNvPr id="21" name="pain-2-title"/>
          <p:cNvSpPr txBox="1"/>
          <p:nvPr/>
        </p:nvSpPr>
        <p:spPr>
          <a:xfrm>
            <a:off x="5486400" y="4937760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Fake certificates</a:t>
            </a:r>
            <a:endParaRPr lang="en-US" sz="1800" dirty="0"/>
          </a:p>
        </p:txBody>
      </p:sp>
      <p:sp>
        <p:nvSpPr>
          <p:cNvPr id="22" name="pain-2-body"/>
          <p:cNvSpPr txBox="1"/>
          <p:nvPr/>
        </p:nvSpPr>
        <p:spPr>
          <a:xfrm>
            <a:off x="5486400" y="5349240"/>
            <a:ext cx="253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Duplicate or fraudulent recycler certificates slip through.</a:t>
            </a:r>
            <a:endParaRPr lang="en-US" sz="1400" dirty="0"/>
          </a:p>
        </p:txBody>
      </p:sp>
      <p:sp>
        <p:nvSpPr>
          <p:cNvPr id="23" name="pain-3"/>
          <p:cNvSpPr/>
          <p:nvPr/>
        </p:nvSpPr>
        <p:spPr>
          <a:xfrm>
            <a:off x="8567928" y="3931920"/>
            <a:ext cx="3081528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4" name="pain-3-badge"/>
          <p:cNvSpPr/>
          <p:nvPr/>
        </p:nvSpPr>
        <p:spPr>
          <a:xfrm>
            <a:off x="8842248" y="4206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ain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3922" y="4337914"/>
            <a:ext cx="285293" cy="285293"/>
          </a:xfrm>
          <a:prstGeom prst="rect">
            <a:avLst/>
          </a:prstGeom>
        </p:spPr>
      </p:pic>
      <p:sp>
        <p:nvSpPr>
          <p:cNvPr id="26" name="pain-3-title"/>
          <p:cNvSpPr txBox="1"/>
          <p:nvPr/>
        </p:nvSpPr>
        <p:spPr>
          <a:xfrm>
            <a:off x="8842248" y="4937760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 visibility</a:t>
            </a:r>
            <a:endParaRPr lang="en-US" sz="1800" dirty="0"/>
          </a:p>
        </p:txBody>
      </p:sp>
      <p:sp>
        <p:nvSpPr>
          <p:cNvPr id="27" name="pain-3-body"/>
          <p:cNvSpPr txBox="1"/>
          <p:nvPr/>
        </p:nvSpPr>
        <p:spPr>
          <a:xfrm>
            <a:off x="8842248" y="5349240"/>
            <a:ext cx="253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single view across brands, plants, GSTINs and states.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Built for everyone in the compliance chain</a:t>
            </a:r>
            <a:endParaRPr lang="en-US" sz="3200" dirty="0"/>
          </a:p>
        </p:txBody>
      </p:sp>
      <p:sp>
        <p:nvSpPr>
          <p:cNvPr id="3" name="persona-0"/>
          <p:cNvSpPr/>
          <p:nvPr/>
        </p:nvSpPr>
        <p:spPr>
          <a:xfrm>
            <a:off x="548640" y="155448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persona-0-badge"/>
          <p:cNvSpPr/>
          <p:nvPr/>
        </p:nvSpPr>
        <p:spPr>
          <a:xfrm>
            <a:off x="822960" y="1874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ersona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050085"/>
            <a:ext cx="380390" cy="380390"/>
          </a:xfrm>
          <a:prstGeom prst="rect">
            <a:avLst/>
          </a:prstGeom>
        </p:spPr>
      </p:pic>
      <p:sp>
        <p:nvSpPr>
          <p:cNvPr id="6" name="persona-0-title"/>
          <p:cNvSpPr txBox="1"/>
          <p:nvPr/>
        </p:nvSpPr>
        <p:spPr>
          <a:xfrm>
            <a:off x="822960" y="28803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Compliance Manager</a:t>
            </a:r>
            <a:endParaRPr lang="en-US" sz="2000" dirty="0"/>
          </a:p>
        </p:txBody>
      </p:sp>
      <p:sp>
        <p:nvSpPr>
          <p:cNvPr id="7" name="persona-0-body"/>
          <p:cNvSpPr txBox="1"/>
          <p:nvPr/>
        </p:nvSpPr>
        <p:spPr>
          <a:xfrm>
            <a:off x="822960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main user. Enters data, tracks targets and certificates, files returns.</a:t>
            </a:r>
            <a:endParaRPr lang="en-US" sz="1500" dirty="0"/>
          </a:p>
        </p:txBody>
      </p:sp>
      <p:sp>
        <p:nvSpPr>
          <p:cNvPr id="8" name="persona-0-chip"/>
          <p:cNvSpPr/>
          <p:nvPr/>
        </p:nvSpPr>
        <p:spPr>
          <a:xfrm>
            <a:off x="822960" y="4937760"/>
            <a:ext cx="1289304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persona-0-chip-text"/>
          <p:cNvSpPr txBox="1"/>
          <p:nvPr/>
        </p:nvSpPr>
        <p:spPr>
          <a:xfrm>
            <a:off x="822960" y="4937760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Role available</a:t>
            </a:r>
            <a:endParaRPr lang="en-US" sz="1100" dirty="0"/>
          </a:p>
        </p:txBody>
      </p:sp>
      <p:sp>
        <p:nvSpPr>
          <p:cNvPr id="10" name="persona-1"/>
          <p:cNvSpPr/>
          <p:nvPr/>
        </p:nvSpPr>
        <p:spPr>
          <a:xfrm>
            <a:off x="3392424" y="155448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persona-1-badge"/>
          <p:cNvSpPr/>
          <p:nvPr/>
        </p:nvSpPr>
        <p:spPr>
          <a:xfrm>
            <a:off x="3666744" y="1874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ersona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309" y="2050085"/>
            <a:ext cx="380390" cy="380390"/>
          </a:xfrm>
          <a:prstGeom prst="rect">
            <a:avLst/>
          </a:prstGeom>
        </p:spPr>
      </p:pic>
      <p:sp>
        <p:nvSpPr>
          <p:cNvPr id="13" name="persona-1-title"/>
          <p:cNvSpPr txBox="1"/>
          <p:nvPr/>
        </p:nvSpPr>
        <p:spPr>
          <a:xfrm>
            <a:off x="3666744" y="28803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Admin / Finance</a:t>
            </a:r>
            <a:endParaRPr lang="en-US" sz="2000" dirty="0"/>
          </a:p>
        </p:txBody>
      </p:sp>
      <p:sp>
        <p:nvSpPr>
          <p:cNvPr id="14" name="persona-1-body"/>
          <p:cNvSpPr txBox="1"/>
          <p:nvPr/>
        </p:nvSpPr>
        <p:spPr>
          <a:xfrm>
            <a:off x="3666744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Approves certificate purchases, controls budget and team access.</a:t>
            </a:r>
            <a:endParaRPr lang="en-US" sz="1500" dirty="0"/>
          </a:p>
        </p:txBody>
      </p:sp>
      <p:sp>
        <p:nvSpPr>
          <p:cNvPr id="15" name="persona-1-chip"/>
          <p:cNvSpPr/>
          <p:nvPr/>
        </p:nvSpPr>
        <p:spPr>
          <a:xfrm>
            <a:off x="3666744" y="4937760"/>
            <a:ext cx="1289304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persona-1-chip-text"/>
          <p:cNvSpPr txBox="1"/>
          <p:nvPr/>
        </p:nvSpPr>
        <p:spPr>
          <a:xfrm>
            <a:off x="3666744" y="4937760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Role available</a:t>
            </a:r>
            <a:endParaRPr lang="en-US" sz="1100" dirty="0"/>
          </a:p>
        </p:txBody>
      </p:sp>
      <p:sp>
        <p:nvSpPr>
          <p:cNvPr id="17" name="persona-2"/>
          <p:cNvSpPr/>
          <p:nvPr/>
        </p:nvSpPr>
        <p:spPr>
          <a:xfrm>
            <a:off x="6236208" y="155448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8" name="persona-2-badge"/>
          <p:cNvSpPr/>
          <p:nvPr/>
        </p:nvSpPr>
        <p:spPr>
          <a:xfrm>
            <a:off x="6510528" y="1874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persona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093" y="2050085"/>
            <a:ext cx="380390" cy="380390"/>
          </a:xfrm>
          <a:prstGeom prst="rect">
            <a:avLst/>
          </a:prstGeom>
        </p:spPr>
      </p:pic>
      <p:sp>
        <p:nvSpPr>
          <p:cNvPr id="20" name="persona-2-title"/>
          <p:cNvSpPr txBox="1"/>
          <p:nvPr/>
        </p:nvSpPr>
        <p:spPr>
          <a:xfrm>
            <a:off x="6510528" y="28803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Consultant</a:t>
            </a:r>
            <a:endParaRPr lang="en-US" sz="2000" dirty="0"/>
          </a:p>
        </p:txBody>
      </p:sp>
      <p:sp>
        <p:nvSpPr>
          <p:cNvPr id="21" name="persona-2-body"/>
          <p:cNvSpPr txBox="1"/>
          <p:nvPr/>
        </p:nvSpPr>
        <p:spPr>
          <a:xfrm>
            <a:off x="6510528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Manages many client companies from a single login.</a:t>
            </a:r>
            <a:endParaRPr lang="en-US" sz="1500" dirty="0"/>
          </a:p>
        </p:txBody>
      </p:sp>
      <p:sp>
        <p:nvSpPr>
          <p:cNvPr id="22" name="persona-2-chip"/>
          <p:cNvSpPr/>
          <p:nvPr/>
        </p:nvSpPr>
        <p:spPr>
          <a:xfrm>
            <a:off x="6510528" y="4937760"/>
            <a:ext cx="1289304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persona-2-chip-text"/>
          <p:cNvSpPr txBox="1"/>
          <p:nvPr/>
        </p:nvSpPr>
        <p:spPr>
          <a:xfrm>
            <a:off x="6510528" y="4937760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Role available</a:t>
            </a:r>
            <a:endParaRPr lang="en-US" sz="1100" dirty="0"/>
          </a:p>
        </p:txBody>
      </p:sp>
      <p:sp>
        <p:nvSpPr>
          <p:cNvPr id="24" name="persona-3"/>
          <p:cNvSpPr/>
          <p:nvPr/>
        </p:nvSpPr>
        <p:spPr>
          <a:xfrm>
            <a:off x="9079992" y="155448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25" name="persona-3-badge"/>
          <p:cNvSpPr/>
          <p:nvPr/>
        </p:nvSpPr>
        <p:spPr>
          <a:xfrm>
            <a:off x="9354312" y="187452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persona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9877" y="2050085"/>
            <a:ext cx="380390" cy="380390"/>
          </a:xfrm>
          <a:prstGeom prst="rect">
            <a:avLst/>
          </a:prstGeom>
        </p:spPr>
      </p:pic>
      <p:sp>
        <p:nvSpPr>
          <p:cNvPr id="27" name="persona-3-title"/>
          <p:cNvSpPr txBox="1"/>
          <p:nvPr/>
        </p:nvSpPr>
        <p:spPr>
          <a:xfrm>
            <a:off x="9354312" y="28803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Recycler / Processor</a:t>
            </a:r>
            <a:endParaRPr lang="en-US" sz="2000" dirty="0"/>
          </a:p>
        </p:txBody>
      </p:sp>
      <p:sp>
        <p:nvSpPr>
          <p:cNvPr id="28" name="persona-3-body"/>
          <p:cNvSpPr txBox="1"/>
          <p:nvPr/>
        </p:nvSpPr>
        <p:spPr>
          <a:xfrm>
            <a:off x="9354312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Lists available EPR certificates on the marketplace.</a:t>
            </a:r>
            <a:endParaRPr lang="en-US" sz="1500" dirty="0"/>
          </a:p>
        </p:txBody>
      </p:sp>
      <p:sp>
        <p:nvSpPr>
          <p:cNvPr id="29" name="persona-3-chip"/>
          <p:cNvSpPr/>
          <p:nvPr/>
        </p:nvSpPr>
        <p:spPr>
          <a:xfrm>
            <a:off x="9354312" y="4937760"/>
            <a:ext cx="1056132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0" name="persona-3-chip-text"/>
          <p:cNvSpPr txBox="1"/>
          <p:nvPr/>
        </p:nvSpPr>
        <p:spPr>
          <a:xfrm>
            <a:off x="9354312" y="4937760"/>
            <a:ext cx="1056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Later phase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workspace from first invoice to annual return</a:t>
            </a:r>
            <a:endParaRPr lang="en-US" sz="3200" dirty="0"/>
          </a:p>
        </p:txBody>
      </p:sp>
      <p:sp>
        <p:nvSpPr>
          <p:cNvPr id="3" name="module-0"/>
          <p:cNvSpPr/>
          <p:nvPr/>
        </p:nvSpPr>
        <p:spPr>
          <a:xfrm>
            <a:off x="548640" y="14173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4" name="module-0-badg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odule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module-0-chip"/>
          <p:cNvSpPr/>
          <p:nvPr/>
        </p:nvSpPr>
        <p:spPr>
          <a:xfrm>
            <a:off x="3273552" y="1819656"/>
            <a:ext cx="512064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module-0-chip-text"/>
          <p:cNvSpPr txBox="1"/>
          <p:nvPr/>
        </p:nvSpPr>
        <p:spPr>
          <a:xfrm>
            <a:off x="3273552" y="1819656"/>
            <a:ext cx="512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Live</a:t>
            </a:r>
            <a:endParaRPr lang="en-US" sz="1100" dirty="0"/>
          </a:p>
        </p:txBody>
      </p:sp>
      <p:sp>
        <p:nvSpPr>
          <p:cNvPr id="8" name="module-0-title"/>
          <p:cNvSpPr txBox="1"/>
          <p:nvPr/>
        </p:nvSpPr>
        <p:spPr>
          <a:xfrm>
            <a:off x="822960" y="24231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Organisations &amp; roles</a:t>
            </a:r>
            <a:endParaRPr lang="en-US" sz="1800" dirty="0"/>
          </a:p>
        </p:txBody>
      </p:sp>
      <p:sp>
        <p:nvSpPr>
          <p:cNvPr id="9" name="module-0-body"/>
          <p:cNvSpPr txBox="1"/>
          <p:nvPr/>
        </p:nvSpPr>
        <p:spPr>
          <a:xfrm>
            <a:off x="822960" y="2834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Companies, brands, plants, GSTINs, team roles.</a:t>
            </a:r>
            <a:endParaRPr lang="en-US" sz="1400" dirty="0"/>
          </a:p>
        </p:txBody>
      </p:sp>
      <p:sp>
        <p:nvSpPr>
          <p:cNvPr id="10" name="module-1"/>
          <p:cNvSpPr/>
          <p:nvPr/>
        </p:nvSpPr>
        <p:spPr>
          <a:xfrm>
            <a:off x="4334256" y="14173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1" name="module-1-badg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module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250" y="1823314"/>
            <a:ext cx="285293" cy="285293"/>
          </a:xfrm>
          <a:prstGeom prst="rect">
            <a:avLst/>
          </a:prstGeom>
        </p:spPr>
      </p:pic>
      <p:sp>
        <p:nvSpPr>
          <p:cNvPr id="13" name="module-1-chip"/>
          <p:cNvSpPr/>
          <p:nvPr/>
        </p:nvSpPr>
        <p:spPr>
          <a:xfrm>
            <a:off x="6825996" y="181965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module-1-chip-text"/>
          <p:cNvSpPr txBox="1"/>
          <p:nvPr/>
        </p:nvSpPr>
        <p:spPr>
          <a:xfrm>
            <a:off x="6825996" y="181965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2</a:t>
            </a:r>
            <a:endParaRPr lang="en-US" sz="1100" dirty="0"/>
          </a:p>
        </p:txBody>
      </p:sp>
      <p:sp>
        <p:nvSpPr>
          <p:cNvPr id="15" name="module-1-title"/>
          <p:cNvSpPr txBox="1"/>
          <p:nvPr/>
        </p:nvSpPr>
        <p:spPr>
          <a:xfrm>
            <a:off x="4608576" y="24231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Material data</a:t>
            </a:r>
            <a:endParaRPr lang="en-US" sz="1800" dirty="0"/>
          </a:p>
        </p:txBody>
      </p:sp>
      <p:sp>
        <p:nvSpPr>
          <p:cNvPr id="16" name="module-1-body"/>
          <p:cNvSpPr txBox="1"/>
          <p:nvPr/>
        </p:nvSpPr>
        <p:spPr>
          <a:xfrm>
            <a:off x="4608576" y="2834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quantities by category, CSV/Excel import.</a:t>
            </a:r>
            <a:endParaRPr lang="en-US" sz="1400" dirty="0"/>
          </a:p>
        </p:txBody>
      </p:sp>
      <p:sp>
        <p:nvSpPr>
          <p:cNvPr id="17" name="module-2"/>
          <p:cNvSpPr/>
          <p:nvPr/>
        </p:nvSpPr>
        <p:spPr>
          <a:xfrm>
            <a:off x="8119872" y="14173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8" name="module-2-badg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module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866" y="1823314"/>
            <a:ext cx="285293" cy="285293"/>
          </a:xfrm>
          <a:prstGeom prst="rect">
            <a:avLst/>
          </a:prstGeom>
        </p:spPr>
      </p:pic>
      <p:sp>
        <p:nvSpPr>
          <p:cNvPr id="20" name="module-2-chip"/>
          <p:cNvSpPr/>
          <p:nvPr/>
        </p:nvSpPr>
        <p:spPr>
          <a:xfrm>
            <a:off x="10611612" y="181965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1" name="module-2-chip-text"/>
          <p:cNvSpPr txBox="1"/>
          <p:nvPr/>
        </p:nvSpPr>
        <p:spPr>
          <a:xfrm>
            <a:off x="10611612" y="181965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3</a:t>
            </a:r>
            <a:endParaRPr lang="en-US" sz="1100" dirty="0"/>
          </a:p>
        </p:txBody>
      </p:sp>
      <p:sp>
        <p:nvSpPr>
          <p:cNvPr id="22" name="module-2-title"/>
          <p:cNvSpPr txBox="1"/>
          <p:nvPr/>
        </p:nvSpPr>
        <p:spPr>
          <a:xfrm>
            <a:off x="8394192" y="24231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Target calculator</a:t>
            </a:r>
            <a:endParaRPr lang="en-US" sz="1800" dirty="0"/>
          </a:p>
        </p:txBody>
      </p:sp>
      <p:sp>
        <p:nvSpPr>
          <p:cNvPr id="23" name="module-2-body"/>
          <p:cNvSpPr txBox="1"/>
          <p:nvPr/>
        </p:nvSpPr>
        <p:spPr>
          <a:xfrm>
            <a:off x="8394192" y="2834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Obligations from versioned, configurable CPCB rules.</a:t>
            </a:r>
            <a:endParaRPr lang="en-US" sz="1400" dirty="0"/>
          </a:p>
        </p:txBody>
      </p:sp>
      <p:sp>
        <p:nvSpPr>
          <p:cNvPr id="24" name="module-3"/>
          <p:cNvSpPr/>
          <p:nvPr/>
        </p:nvSpPr>
        <p:spPr>
          <a:xfrm>
            <a:off x="548640" y="39319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5" name="module-3-badge"/>
          <p:cNvSpPr/>
          <p:nvPr/>
        </p:nvSpPr>
        <p:spPr>
          <a:xfrm>
            <a:off x="822960" y="4206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module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7" name="module-3-chip"/>
          <p:cNvSpPr/>
          <p:nvPr/>
        </p:nvSpPr>
        <p:spPr>
          <a:xfrm>
            <a:off x="3040380" y="433425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8" name="module-3-chip-text"/>
          <p:cNvSpPr txBox="1"/>
          <p:nvPr/>
        </p:nvSpPr>
        <p:spPr>
          <a:xfrm>
            <a:off x="3040380" y="433425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4</a:t>
            </a:r>
            <a:endParaRPr lang="en-US" sz="1100" dirty="0"/>
          </a:p>
        </p:txBody>
      </p:sp>
      <p:sp>
        <p:nvSpPr>
          <p:cNvPr id="29" name="module-3-title"/>
          <p:cNvSpPr txBox="1"/>
          <p:nvPr/>
        </p:nvSpPr>
        <p:spPr>
          <a:xfrm>
            <a:off x="822960" y="49377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Certificates &amp; fraud checks</a:t>
            </a:r>
            <a:endParaRPr lang="en-US" sz="1800" dirty="0"/>
          </a:p>
        </p:txBody>
      </p:sp>
      <p:sp>
        <p:nvSpPr>
          <p:cNvPr id="30" name="module-3-body"/>
          <p:cNvSpPr txBox="1"/>
          <p:nvPr/>
        </p:nvSpPr>
        <p:spPr>
          <a:xfrm>
            <a:off x="822960" y="53492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Duplicates, unverified recyclers, capacity breaches.</a:t>
            </a:r>
            <a:endParaRPr lang="en-US" sz="1400" dirty="0"/>
          </a:p>
        </p:txBody>
      </p:sp>
      <p:sp>
        <p:nvSpPr>
          <p:cNvPr id="31" name="module-4"/>
          <p:cNvSpPr/>
          <p:nvPr/>
        </p:nvSpPr>
        <p:spPr>
          <a:xfrm>
            <a:off x="4334256" y="39319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2" name="module-4-badge"/>
          <p:cNvSpPr/>
          <p:nvPr/>
        </p:nvSpPr>
        <p:spPr>
          <a:xfrm>
            <a:off x="4608576" y="4206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module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250" y="4337914"/>
            <a:ext cx="285293" cy="285293"/>
          </a:xfrm>
          <a:prstGeom prst="rect">
            <a:avLst/>
          </a:prstGeom>
        </p:spPr>
      </p:pic>
      <p:sp>
        <p:nvSpPr>
          <p:cNvPr id="34" name="module-4-chip"/>
          <p:cNvSpPr/>
          <p:nvPr/>
        </p:nvSpPr>
        <p:spPr>
          <a:xfrm>
            <a:off x="6825996" y="433425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5" name="module-4-chip-text"/>
          <p:cNvSpPr txBox="1"/>
          <p:nvPr/>
        </p:nvSpPr>
        <p:spPr>
          <a:xfrm>
            <a:off x="6825996" y="433425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5</a:t>
            </a:r>
            <a:endParaRPr lang="en-US" sz="1100" dirty="0"/>
          </a:p>
        </p:txBody>
      </p:sp>
      <p:sp>
        <p:nvSpPr>
          <p:cNvPr id="36" name="module-4-title"/>
          <p:cNvSpPr txBox="1"/>
          <p:nvPr/>
        </p:nvSpPr>
        <p:spPr>
          <a:xfrm>
            <a:off x="4608576" y="49377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invoice extraction</a:t>
            </a:r>
            <a:endParaRPr lang="en-US" sz="1800" dirty="0"/>
          </a:p>
        </p:txBody>
      </p:sp>
      <p:sp>
        <p:nvSpPr>
          <p:cNvPr id="37" name="module-4-body"/>
          <p:cNvSpPr txBox="1"/>
          <p:nvPr/>
        </p:nvSpPr>
        <p:spPr>
          <a:xfrm>
            <a:off x="4608576" y="53492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reads invoices; humans review and approve.</a:t>
            </a:r>
            <a:endParaRPr lang="en-US" sz="1400" dirty="0"/>
          </a:p>
        </p:txBody>
      </p:sp>
      <p:sp>
        <p:nvSpPr>
          <p:cNvPr id="38" name="module-5"/>
          <p:cNvSpPr/>
          <p:nvPr/>
        </p:nvSpPr>
        <p:spPr>
          <a:xfrm>
            <a:off x="8119872" y="393192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9" name="module-5-badge"/>
          <p:cNvSpPr/>
          <p:nvPr/>
        </p:nvSpPr>
        <p:spPr>
          <a:xfrm>
            <a:off x="8394192" y="4206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0" name="module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5866" y="4337914"/>
            <a:ext cx="285293" cy="285293"/>
          </a:xfrm>
          <a:prstGeom prst="rect">
            <a:avLst/>
          </a:prstGeom>
        </p:spPr>
      </p:pic>
      <p:sp>
        <p:nvSpPr>
          <p:cNvPr id="41" name="module-5-chip"/>
          <p:cNvSpPr/>
          <p:nvPr/>
        </p:nvSpPr>
        <p:spPr>
          <a:xfrm>
            <a:off x="10611612" y="433425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2" name="module-5-chip-text"/>
          <p:cNvSpPr txBox="1"/>
          <p:nvPr/>
        </p:nvSpPr>
        <p:spPr>
          <a:xfrm>
            <a:off x="10611612" y="433425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6</a:t>
            </a:r>
            <a:endParaRPr lang="en-US" sz="1100" dirty="0"/>
          </a:p>
        </p:txBody>
      </p:sp>
      <p:sp>
        <p:nvSpPr>
          <p:cNvPr id="43" name="module-5-title"/>
          <p:cNvSpPr txBox="1"/>
          <p:nvPr/>
        </p:nvSpPr>
        <p:spPr>
          <a:xfrm>
            <a:off x="8394192" y="49377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Reports &amp; reminders</a:t>
            </a:r>
            <a:endParaRPr lang="en-US" sz="1800" dirty="0"/>
          </a:p>
        </p:txBody>
      </p:sp>
      <p:sp>
        <p:nvSpPr>
          <p:cNvPr id="44" name="module-5-body"/>
          <p:cNvSpPr txBox="1"/>
          <p:nvPr/>
        </p:nvSpPr>
        <p:spPr>
          <a:xfrm>
            <a:off x="8394192" y="53492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CPCB-format exports, deadline calendar, alerts.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kicker"/>
          <p:cNvSpPr txBox="1"/>
          <p:nvPr/>
        </p:nvSpPr>
        <p:spPr>
          <a:xfrm>
            <a:off x="54864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PHASES 0–1 COMPLETE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What's live today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Onboarding, dashboard, teams &amp; roles, audit trail, consultant view, dark mode and security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Set up a company in under five minutes</a:t>
            </a:r>
            <a:endParaRPr lang="en-US" sz="3200" dirty="0"/>
          </a:p>
        </p:txBody>
      </p:sp>
      <p:sp>
        <p:nvSpPr>
          <p:cNvPr id="3" name="shot-onboarding-frame"/>
          <p:cNvSpPr/>
          <p:nvPr/>
        </p:nvSpPr>
        <p:spPr>
          <a:xfrm>
            <a:off x="493776" y="1408176"/>
            <a:ext cx="5230368" cy="3310128"/>
          </a:xfrm>
          <a:prstGeom prst="roundRect">
            <a:avLst>
              <a:gd name="adj" fmla="val 2210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4" name="shot-onboarding" descr="shot-onboar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120640" cy="3200400"/>
          </a:xfrm>
          <a:prstGeom prst="rect">
            <a:avLst/>
          </a:prstGeom>
        </p:spPr>
      </p:pic>
      <p:sp>
        <p:nvSpPr>
          <p:cNvPr id="5" name="shot-gstin-frame"/>
          <p:cNvSpPr/>
          <p:nvPr/>
        </p:nvSpPr>
        <p:spPr>
          <a:xfrm>
            <a:off x="3145536" y="3465576"/>
            <a:ext cx="4133088" cy="2624328"/>
          </a:xfrm>
          <a:prstGeom prst="roundRect">
            <a:avLst>
              <a:gd name="adj" fmla="val 2787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6" name="shot-gstin" descr="shot-gst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520440"/>
            <a:ext cx="4023360" cy="2514600"/>
          </a:xfrm>
          <a:prstGeom prst="rect">
            <a:avLst/>
          </a:prstGeom>
        </p:spPr>
      </p:pic>
      <p:sp>
        <p:nvSpPr>
          <p:cNvPr id="7" name="onb-0-badge"/>
          <p:cNvSpPr/>
          <p:nvPr/>
        </p:nvSpPr>
        <p:spPr>
          <a:xfrm>
            <a:off x="772668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onb-0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354" y="1686154"/>
            <a:ext cx="285293" cy="285293"/>
          </a:xfrm>
          <a:prstGeom prst="rect">
            <a:avLst/>
          </a:prstGeom>
        </p:spPr>
      </p:pic>
      <p:sp>
        <p:nvSpPr>
          <p:cNvPr id="9" name="onb-0-title"/>
          <p:cNvSpPr txBox="1"/>
          <p:nvPr/>
        </p:nvSpPr>
        <p:spPr>
          <a:xfrm>
            <a:off x="8458200" y="15361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Company profile</a:t>
            </a:r>
            <a:endParaRPr lang="en-US" sz="1800" dirty="0"/>
          </a:p>
        </p:txBody>
      </p:sp>
      <p:sp>
        <p:nvSpPr>
          <p:cNvPr id="10" name="onb-0-body"/>
          <p:cNvSpPr txBox="1"/>
          <p:nvPr/>
        </p:nvSpPr>
        <p:spPr>
          <a:xfrm>
            <a:off x="8458200" y="193852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Entity types (Producer, Importer, Brand Owner), waste streams, head office, PAN, CIN, CPCB number.</a:t>
            </a:r>
            <a:endParaRPr lang="en-US" sz="1400" dirty="0"/>
          </a:p>
        </p:txBody>
      </p:sp>
      <p:sp>
        <p:nvSpPr>
          <p:cNvPr id="11" name="onb-1-badge"/>
          <p:cNvSpPr/>
          <p:nvPr/>
        </p:nvSpPr>
        <p:spPr>
          <a:xfrm>
            <a:off x="7726680" y="3017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onb-1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354" y="3149194"/>
            <a:ext cx="285293" cy="285293"/>
          </a:xfrm>
          <a:prstGeom prst="rect">
            <a:avLst/>
          </a:prstGeom>
        </p:spPr>
      </p:pic>
      <p:sp>
        <p:nvSpPr>
          <p:cNvPr id="13" name="onb-1-title"/>
          <p:cNvSpPr txBox="1"/>
          <p:nvPr/>
        </p:nvSpPr>
        <p:spPr>
          <a:xfrm>
            <a:off x="8458200" y="29992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GSTIN checksum</a:t>
            </a:r>
            <a:endParaRPr lang="en-US" sz="1800" dirty="0"/>
          </a:p>
        </p:txBody>
      </p:sp>
      <p:sp>
        <p:nvSpPr>
          <p:cNvPr id="14" name="onb-1-body"/>
          <p:cNvSpPr txBox="1"/>
          <p:nvPr/>
        </p:nvSpPr>
        <p:spPr>
          <a:xfrm>
            <a:off x="8458200" y="34015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GSTIN is checked with the official check digit; the state is detected automatically.</a:t>
            </a:r>
            <a:endParaRPr lang="en-US" sz="1400" dirty="0"/>
          </a:p>
        </p:txBody>
      </p:sp>
      <p:sp>
        <p:nvSpPr>
          <p:cNvPr id="15" name="onb-2-badge"/>
          <p:cNvSpPr/>
          <p:nvPr/>
        </p:nvSpPr>
        <p:spPr>
          <a:xfrm>
            <a:off x="7726680" y="4480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onb-2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354" y="4612234"/>
            <a:ext cx="285293" cy="285293"/>
          </a:xfrm>
          <a:prstGeom prst="rect">
            <a:avLst/>
          </a:prstGeom>
        </p:spPr>
      </p:pic>
      <p:sp>
        <p:nvSpPr>
          <p:cNvPr id="17" name="onb-2-title"/>
          <p:cNvSpPr txBox="1"/>
          <p:nvPr/>
        </p:nvSpPr>
        <p:spPr>
          <a:xfrm>
            <a:off x="8458200" y="44622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Brands</a:t>
            </a:r>
            <a:endParaRPr lang="en-US" sz="1800" dirty="0"/>
          </a:p>
        </p:txBody>
      </p:sp>
      <p:sp>
        <p:nvSpPr>
          <p:cNvPr id="18" name="onb-2-body"/>
          <p:cNvSpPr txBox="1"/>
          <p:nvPr/>
        </p:nvSpPr>
        <p:spPr>
          <a:xfrm>
            <a:off x="8458200" y="486460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 the brands you sell under, so data and reports can be split by brand.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 dashboard that shows where you stand</a:t>
            </a:r>
            <a:endParaRPr lang="en-US" sz="3200" dirty="0"/>
          </a:p>
        </p:txBody>
      </p:sp>
      <p:sp>
        <p:nvSpPr>
          <p:cNvPr id="3" name="shot-dashboard-frame"/>
          <p:cNvSpPr/>
          <p:nvPr/>
        </p:nvSpPr>
        <p:spPr>
          <a:xfrm>
            <a:off x="493776" y="136245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4" name="shot-dashboard" descr="shot-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223760" cy="4514850"/>
          </a:xfrm>
          <a:prstGeom prst="rect">
            <a:avLst/>
          </a:prstGeom>
        </p:spPr>
      </p:pic>
      <p:sp>
        <p:nvSpPr>
          <p:cNvPr id="5" name="dash-0"/>
          <p:cNvSpPr/>
          <p:nvPr/>
        </p:nvSpPr>
        <p:spPr>
          <a:xfrm>
            <a:off x="8092440" y="1463040"/>
            <a:ext cx="35478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dash-0-badge"/>
          <p:cNvSpPr/>
          <p:nvPr/>
        </p:nvSpPr>
        <p:spPr>
          <a:xfrm>
            <a:off x="8275320" y="1691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dash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6021" y="1812341"/>
            <a:ext cx="261518" cy="261518"/>
          </a:xfrm>
          <a:prstGeom prst="rect">
            <a:avLst/>
          </a:prstGeom>
        </p:spPr>
      </p:pic>
      <p:sp>
        <p:nvSpPr>
          <p:cNvPr id="8" name="dash-0-title"/>
          <p:cNvSpPr txBox="1"/>
          <p:nvPr/>
        </p:nvSpPr>
        <p:spPr>
          <a:xfrm>
            <a:off x="8961120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Financial-year clock</a:t>
            </a:r>
            <a:endParaRPr lang="en-US" sz="1700" dirty="0"/>
          </a:p>
        </p:txBody>
      </p:sp>
      <p:sp>
        <p:nvSpPr>
          <p:cNvPr id="9" name="dash-0-body"/>
          <p:cNvSpPr txBox="1"/>
          <p:nvPr/>
        </p:nvSpPr>
        <p:spPr>
          <a:xfrm>
            <a:off x="8961120" y="202996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much of the FY has elapsed and how many months remain.</a:t>
            </a:r>
            <a:endParaRPr lang="en-US" sz="1300" dirty="0"/>
          </a:p>
        </p:txBody>
      </p:sp>
      <p:sp>
        <p:nvSpPr>
          <p:cNvPr id="10" name="dash-1"/>
          <p:cNvSpPr/>
          <p:nvPr/>
        </p:nvSpPr>
        <p:spPr>
          <a:xfrm>
            <a:off x="8092440" y="2971800"/>
            <a:ext cx="35478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dash-1-badge"/>
          <p:cNvSpPr/>
          <p:nvPr/>
        </p:nvSpPr>
        <p:spPr>
          <a:xfrm>
            <a:off x="8275320" y="3200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dash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3321101"/>
            <a:ext cx="261518" cy="261518"/>
          </a:xfrm>
          <a:prstGeom prst="rect">
            <a:avLst/>
          </a:prstGeom>
        </p:spPr>
      </p:pic>
      <p:sp>
        <p:nvSpPr>
          <p:cNvPr id="13" name="dash-1-title"/>
          <p:cNvSpPr txBox="1"/>
          <p:nvPr/>
        </p:nvSpPr>
        <p:spPr>
          <a:xfrm>
            <a:off x="8961120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At-a-glance stats</a:t>
            </a:r>
            <a:endParaRPr lang="en-US" sz="1700" dirty="0"/>
          </a:p>
        </p:txBody>
      </p:sp>
      <p:sp>
        <p:nvSpPr>
          <p:cNvPr id="14" name="dash-1-body"/>
          <p:cNvSpPr txBox="1"/>
          <p:nvPr/>
        </p:nvSpPr>
        <p:spPr>
          <a:xfrm>
            <a:off x="8961120" y="353872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GST registrations, brands and team size for the company.</a:t>
            </a:r>
            <a:endParaRPr lang="en-US" sz="1300" dirty="0"/>
          </a:p>
        </p:txBody>
      </p:sp>
      <p:sp>
        <p:nvSpPr>
          <p:cNvPr id="15" name="dash-2"/>
          <p:cNvSpPr/>
          <p:nvPr/>
        </p:nvSpPr>
        <p:spPr>
          <a:xfrm>
            <a:off x="8092440" y="4480560"/>
            <a:ext cx="35478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dash-2-badge"/>
          <p:cNvSpPr/>
          <p:nvPr/>
        </p:nvSpPr>
        <p:spPr>
          <a:xfrm>
            <a:off x="8275320" y="4709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dash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021" y="4829861"/>
            <a:ext cx="261518" cy="261518"/>
          </a:xfrm>
          <a:prstGeom prst="rect">
            <a:avLst/>
          </a:prstGeom>
        </p:spPr>
      </p:pic>
      <p:sp>
        <p:nvSpPr>
          <p:cNvPr id="18" name="dash-2-title"/>
          <p:cNvSpPr txBox="1"/>
          <p:nvPr/>
        </p:nvSpPr>
        <p:spPr>
          <a:xfrm>
            <a:off x="8961120" y="4663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Guided setup</a:t>
            </a:r>
            <a:endParaRPr lang="en-US" sz="1700" dirty="0"/>
          </a:p>
        </p:txBody>
      </p:sp>
      <p:sp>
        <p:nvSpPr>
          <p:cNvPr id="19" name="dash-2-body"/>
          <p:cNvSpPr txBox="1"/>
          <p:nvPr/>
        </p:nvSpPr>
        <p:spPr>
          <a:xfrm>
            <a:off x="8961120" y="504748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checklist that leads to obligations and the compliance score.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Teams, roles and a complete audit trail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493776" y="1362456"/>
            <a:ext cx="5504688" cy="3481578"/>
          </a:xfrm>
          <a:prstGeom prst="roundRect">
            <a:avLst>
              <a:gd name="adj" fmla="val 2101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4" name="shot-members" descr="shot-memb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394960" cy="3371850"/>
          </a:xfrm>
          <a:prstGeom prst="rect">
            <a:avLst/>
          </a:prstGeom>
        </p:spPr>
      </p:pic>
      <p:sp>
        <p:nvSpPr>
          <p:cNvPr id="5" name="shot-audit-frame"/>
          <p:cNvSpPr/>
          <p:nvPr/>
        </p:nvSpPr>
        <p:spPr>
          <a:xfrm>
            <a:off x="6193231" y="1362456"/>
            <a:ext cx="5504688" cy="3481578"/>
          </a:xfrm>
          <a:prstGeom prst="roundRect">
            <a:avLst>
              <a:gd name="adj" fmla="val 2101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6" name="shot-audit" descr="shot-aud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417320"/>
            <a:ext cx="5394960" cy="3371850"/>
          </a:xfrm>
          <a:prstGeom prst="rect">
            <a:avLst/>
          </a:prstGeom>
        </p:spPr>
      </p:pic>
      <p:sp>
        <p:nvSpPr>
          <p:cNvPr id="7" name="members-caption"/>
          <p:cNvSpPr txBox="1"/>
          <p:nvPr/>
        </p:nvSpPr>
        <p:spPr>
          <a:xfrm>
            <a:off x="548640" y="506349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Four roles, enforced on the server.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 by email or secure one-time link; only admins manage members and approve purchases.</a:t>
            </a:r>
            <a:endParaRPr lang="en-US" sz="1400" dirty="0"/>
          </a:p>
        </p:txBody>
      </p:sp>
      <p:sp>
        <p:nvSpPr>
          <p:cNvPr id="8" name="audit-caption"/>
          <p:cNvSpPr txBox="1"/>
          <p:nvPr/>
        </p:nvSpPr>
        <p:spPr>
          <a:xfrm>
            <a:off x="6248095" y="506349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Nothing changes without a record.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change is logged with who made it, when, and from which IP.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Consultants manage every client from one login</a:t>
            </a:r>
            <a:endParaRPr lang="en-US" sz="3200" dirty="0"/>
          </a:p>
        </p:txBody>
      </p:sp>
      <p:sp>
        <p:nvSpPr>
          <p:cNvPr id="3" name="shot-consultant-frame"/>
          <p:cNvSpPr/>
          <p:nvPr/>
        </p:nvSpPr>
        <p:spPr>
          <a:xfrm>
            <a:off x="493776" y="13624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4" name="shot-consultant" descr="shot-consult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4343400"/>
          </a:xfrm>
          <a:prstGeom prst="rect">
            <a:avLst/>
          </a:prstGeom>
        </p:spPr>
      </p:pic>
      <p:sp>
        <p:nvSpPr>
          <p:cNvPr id="5" name="stat-login"/>
          <p:cNvSpPr txBox="1"/>
          <p:nvPr/>
        </p:nvSpPr>
        <p:spPr>
          <a:xfrm>
            <a:off x="8001000" y="1508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 login</a:t>
            </a:r>
            <a:endParaRPr lang="en-US" sz="5400" dirty="0"/>
          </a:p>
        </p:txBody>
      </p:sp>
      <p:sp>
        <p:nvSpPr>
          <p:cNvPr id="6" name="stat-login-label"/>
          <p:cNvSpPr txBox="1"/>
          <p:nvPr/>
        </p:nvSpPr>
        <p:spPr>
          <a:xfrm>
            <a:off x="800100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all of a consultant's client companies</a:t>
            </a:r>
            <a:endParaRPr lang="en-US" sz="1500" dirty="0"/>
          </a:p>
        </p:txBody>
      </p:sp>
      <p:sp>
        <p:nvSpPr>
          <p:cNvPr id="7" name="stat-isolation"/>
          <p:cNvSpPr txBox="1"/>
          <p:nvPr/>
        </p:nvSpPr>
        <p:spPr>
          <a:xfrm>
            <a:off x="8001000" y="3246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Isolated</a:t>
            </a:r>
            <a:endParaRPr lang="en-US" sz="5400" dirty="0"/>
          </a:p>
        </p:txBody>
      </p:sp>
      <p:sp>
        <p:nvSpPr>
          <p:cNvPr id="8" name="stat-isolation-label"/>
          <p:cNvSpPr txBox="1"/>
          <p:nvPr/>
        </p:nvSpPr>
        <p:spPr>
          <a:xfrm>
            <a:off x="8001000" y="4069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 data — every query is scoped to one organisation; non-members get a 404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Light and dark mode on every screen</a:t>
            </a:r>
            <a:endParaRPr lang="en-US" sz="3200" dirty="0"/>
          </a:p>
        </p:txBody>
      </p:sp>
      <p:sp>
        <p:nvSpPr>
          <p:cNvPr id="3" name="shot-light-frame"/>
          <p:cNvSpPr/>
          <p:nvPr/>
        </p:nvSpPr>
        <p:spPr>
          <a:xfrm>
            <a:off x="493776" y="140817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4" name="shot-light" descr="shot-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486400" cy="3429000"/>
          </a:xfrm>
          <a:prstGeom prst="rect">
            <a:avLst/>
          </a:prstGeom>
        </p:spPr>
      </p:pic>
      <p:sp>
        <p:nvSpPr>
          <p:cNvPr id="5" name="shot-dark-frame"/>
          <p:cNvSpPr/>
          <p:nvPr/>
        </p:nvSpPr>
        <p:spPr>
          <a:xfrm>
            <a:off x="6101791" y="140817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DCE8E0"/>
          </a:solidFill>
          <a:ln/>
          <a:effectLst>
            <a:outerShdw sx="100000" sy="100000" kx="0" ky="0" algn="bl" rotWithShape="0" blurRad="152400" dist="38100" dir="5400000">
              <a:srgbClr val="0E3B23">
                <a:alpha val="18000"/>
              </a:srgbClr>
            </a:outerShdw>
          </a:effectLst>
        </p:spPr>
      </p:sp>
      <p:pic>
        <p:nvPicPr>
          <p:cNvPr id="6" name="shot-dark" descr="shot-d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463040"/>
            <a:ext cx="5486400" cy="3429000"/>
          </a:xfrm>
          <a:prstGeom prst="rect">
            <a:avLst/>
          </a:prstGeom>
        </p:spPr>
      </p:pic>
      <p:sp>
        <p:nvSpPr>
          <p:cNvPr id="7" name="sun-badge"/>
          <p:cNvSpPr/>
          <p:nvPr/>
        </p:nvSpPr>
        <p:spPr>
          <a:xfrm>
            <a:off x="54864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sun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230368"/>
            <a:ext cx="237744" cy="237744"/>
          </a:xfrm>
          <a:prstGeom prst="rect">
            <a:avLst/>
          </a:prstGeom>
        </p:spPr>
      </p:pic>
      <p:sp>
        <p:nvSpPr>
          <p:cNvPr id="9" name="light-label"/>
          <p:cNvSpPr txBox="1"/>
          <p:nvPr/>
        </p:nvSpPr>
        <p:spPr>
          <a:xfrm>
            <a:off x="1143000" y="51937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Light</a:t>
            </a:r>
            <a:endParaRPr lang="en-US" sz="1600" dirty="0"/>
          </a:p>
        </p:txBody>
      </p:sp>
      <p:sp>
        <p:nvSpPr>
          <p:cNvPr id="10" name="moon-badge"/>
          <p:cNvSpPr/>
          <p:nvPr/>
        </p:nvSpPr>
        <p:spPr>
          <a:xfrm>
            <a:off x="6156655" y="5120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moon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383" y="5230368"/>
            <a:ext cx="237744" cy="237744"/>
          </a:xfrm>
          <a:prstGeom prst="rect">
            <a:avLst/>
          </a:prstGeom>
        </p:spPr>
      </p:pic>
      <p:sp>
        <p:nvSpPr>
          <p:cNvPr id="12" name="dark-label"/>
          <p:cNvSpPr txBox="1"/>
          <p:nvPr/>
        </p:nvSpPr>
        <p:spPr>
          <a:xfrm>
            <a:off x="6751015" y="51937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Dark</a:t>
            </a:r>
            <a:endParaRPr lang="en-US" sz="1600" dirty="0"/>
          </a:p>
        </p:txBody>
      </p:sp>
      <p:sp>
        <p:nvSpPr>
          <p:cNvPr id="13" name="theme-caption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Follows the system setting by default; the choice is remembered per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Security and data safety by design</a:t>
            </a:r>
            <a:endParaRPr lang="en-US" sz="3200" dirty="0"/>
          </a:p>
        </p:txBody>
      </p:sp>
      <p:sp>
        <p:nvSpPr>
          <p:cNvPr id="3" name="sec-0"/>
          <p:cNvSpPr/>
          <p:nvPr/>
        </p:nvSpPr>
        <p:spPr>
          <a:xfrm>
            <a:off x="548640" y="14173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4" name="sec-0-badg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e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sec-0-title"/>
          <p:cNvSpPr txBox="1"/>
          <p:nvPr/>
        </p:nvSpPr>
        <p:spPr>
          <a:xfrm>
            <a:off x="822960" y="23774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Tenant isolation</a:t>
            </a:r>
            <a:endParaRPr lang="en-US" sz="1700" dirty="0"/>
          </a:p>
        </p:txBody>
      </p:sp>
      <p:sp>
        <p:nvSpPr>
          <p:cNvPr id="7" name="sec-0-body"/>
          <p:cNvSpPr txBox="1"/>
          <p:nvPr/>
        </p:nvSpPr>
        <p:spPr>
          <a:xfrm>
            <a:off x="822960" y="27889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query scoped to the organisation; strangers get a 404.</a:t>
            </a:r>
            <a:endParaRPr lang="en-US" sz="1400" dirty="0"/>
          </a:p>
        </p:txBody>
      </p:sp>
      <p:sp>
        <p:nvSpPr>
          <p:cNvPr id="8" name="sec-1"/>
          <p:cNvSpPr/>
          <p:nvPr/>
        </p:nvSpPr>
        <p:spPr>
          <a:xfrm>
            <a:off x="3392424" y="14173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9" name="sec-1-badge"/>
          <p:cNvSpPr/>
          <p:nvPr/>
        </p:nvSpPr>
        <p:spPr>
          <a:xfrm>
            <a:off x="3666744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se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1823314"/>
            <a:ext cx="285293" cy="285293"/>
          </a:xfrm>
          <a:prstGeom prst="rect">
            <a:avLst/>
          </a:prstGeom>
        </p:spPr>
      </p:pic>
      <p:sp>
        <p:nvSpPr>
          <p:cNvPr id="11" name="sec-1-title"/>
          <p:cNvSpPr txBox="1"/>
          <p:nvPr/>
        </p:nvSpPr>
        <p:spPr>
          <a:xfrm>
            <a:off x="3666744" y="23774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Role permissions</a:t>
            </a:r>
            <a:endParaRPr lang="en-US" sz="1700" dirty="0"/>
          </a:p>
        </p:txBody>
      </p:sp>
      <p:sp>
        <p:nvSpPr>
          <p:cNvPr id="12" name="sec-1-body"/>
          <p:cNvSpPr txBox="1"/>
          <p:nvPr/>
        </p:nvSpPr>
        <p:spPr>
          <a:xfrm>
            <a:off x="3666744" y="27889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permission table, re-checked in every server action.</a:t>
            </a:r>
            <a:endParaRPr lang="en-US" sz="1400" dirty="0"/>
          </a:p>
        </p:txBody>
      </p:sp>
      <p:sp>
        <p:nvSpPr>
          <p:cNvPr id="13" name="sec-2"/>
          <p:cNvSpPr/>
          <p:nvPr/>
        </p:nvSpPr>
        <p:spPr>
          <a:xfrm>
            <a:off x="6236208" y="14173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4" name="sec-2-badge"/>
          <p:cNvSpPr/>
          <p:nvPr/>
        </p:nvSpPr>
        <p:spPr>
          <a:xfrm>
            <a:off x="6510528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se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202" y="1823314"/>
            <a:ext cx="285293" cy="285293"/>
          </a:xfrm>
          <a:prstGeom prst="rect">
            <a:avLst/>
          </a:prstGeom>
        </p:spPr>
      </p:pic>
      <p:sp>
        <p:nvSpPr>
          <p:cNvPr id="16" name="sec-2-title"/>
          <p:cNvSpPr txBox="1"/>
          <p:nvPr/>
        </p:nvSpPr>
        <p:spPr>
          <a:xfrm>
            <a:off x="6510528" y="23774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Strong sign-in</a:t>
            </a:r>
            <a:endParaRPr lang="en-US" sz="1700" dirty="0"/>
          </a:p>
        </p:txBody>
      </p:sp>
      <p:sp>
        <p:nvSpPr>
          <p:cNvPr id="17" name="sec-2-body"/>
          <p:cNvSpPr txBox="1"/>
          <p:nvPr/>
        </p:nvSpPr>
        <p:spPr>
          <a:xfrm>
            <a:off x="6510528" y="27889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Argon2 hashing, constant-time login, 7-day sessions.</a:t>
            </a:r>
            <a:endParaRPr lang="en-US" sz="1400" dirty="0"/>
          </a:p>
        </p:txBody>
      </p:sp>
      <p:sp>
        <p:nvSpPr>
          <p:cNvPr id="18" name="sec-3"/>
          <p:cNvSpPr/>
          <p:nvPr/>
        </p:nvSpPr>
        <p:spPr>
          <a:xfrm>
            <a:off x="9079992" y="14173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sec-3-badge"/>
          <p:cNvSpPr/>
          <p:nvPr/>
        </p:nvSpPr>
        <p:spPr>
          <a:xfrm>
            <a:off x="9354312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e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5986" y="1823314"/>
            <a:ext cx="285293" cy="285293"/>
          </a:xfrm>
          <a:prstGeom prst="rect">
            <a:avLst/>
          </a:prstGeom>
        </p:spPr>
      </p:pic>
      <p:sp>
        <p:nvSpPr>
          <p:cNvPr id="21" name="sec-3-title"/>
          <p:cNvSpPr txBox="1"/>
          <p:nvPr/>
        </p:nvSpPr>
        <p:spPr>
          <a:xfrm>
            <a:off x="9354312" y="23774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Rate limiting</a:t>
            </a:r>
            <a:endParaRPr lang="en-US" sz="1700" dirty="0"/>
          </a:p>
        </p:txBody>
      </p:sp>
      <p:sp>
        <p:nvSpPr>
          <p:cNvPr id="22" name="sec-3-body"/>
          <p:cNvSpPr txBox="1"/>
          <p:nvPr/>
        </p:nvSpPr>
        <p:spPr>
          <a:xfrm>
            <a:off x="9354312" y="27889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Login, signup and invites throttled to stop brute force.</a:t>
            </a:r>
            <a:endParaRPr lang="en-US" sz="1400" dirty="0"/>
          </a:p>
        </p:txBody>
      </p:sp>
      <p:sp>
        <p:nvSpPr>
          <p:cNvPr id="23" name="sec-4"/>
          <p:cNvSpPr/>
          <p:nvPr/>
        </p:nvSpPr>
        <p:spPr>
          <a:xfrm>
            <a:off x="548640" y="39319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4" name="sec-4-badge"/>
          <p:cNvSpPr/>
          <p:nvPr/>
        </p:nvSpPr>
        <p:spPr>
          <a:xfrm>
            <a:off x="822960" y="4206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se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6" name="sec-4-title"/>
          <p:cNvSpPr txBox="1"/>
          <p:nvPr/>
        </p:nvSpPr>
        <p:spPr>
          <a:xfrm>
            <a:off x="822960" y="48920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Strict validation</a:t>
            </a:r>
            <a:endParaRPr lang="en-US" sz="1700" dirty="0"/>
          </a:p>
        </p:txBody>
      </p:sp>
      <p:sp>
        <p:nvSpPr>
          <p:cNvPr id="27" name="sec-4-body"/>
          <p:cNvSpPr txBox="1"/>
          <p:nvPr/>
        </p:nvSpPr>
        <p:spPr>
          <a:xfrm>
            <a:off x="822960" y="53035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PAN, CIN, GSTIN checksum; hidden characters stripped.</a:t>
            </a:r>
            <a:endParaRPr lang="en-US" sz="1400" dirty="0"/>
          </a:p>
        </p:txBody>
      </p:sp>
      <p:sp>
        <p:nvSpPr>
          <p:cNvPr id="28" name="sec-5"/>
          <p:cNvSpPr/>
          <p:nvPr/>
        </p:nvSpPr>
        <p:spPr>
          <a:xfrm>
            <a:off x="3392424" y="39319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9" name="sec-5-badge"/>
          <p:cNvSpPr/>
          <p:nvPr/>
        </p:nvSpPr>
        <p:spPr>
          <a:xfrm>
            <a:off x="3666744" y="4206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se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8418" y="4337914"/>
            <a:ext cx="285293" cy="285293"/>
          </a:xfrm>
          <a:prstGeom prst="rect">
            <a:avLst/>
          </a:prstGeom>
        </p:spPr>
      </p:pic>
      <p:sp>
        <p:nvSpPr>
          <p:cNvPr id="31" name="sec-5-title"/>
          <p:cNvSpPr txBox="1"/>
          <p:nvPr/>
        </p:nvSpPr>
        <p:spPr>
          <a:xfrm>
            <a:off x="3666744" y="48920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Browser shields</a:t>
            </a:r>
            <a:endParaRPr lang="en-US" sz="1700" dirty="0"/>
          </a:p>
        </p:txBody>
      </p:sp>
      <p:sp>
        <p:nvSpPr>
          <p:cNvPr id="32" name="sec-5-body"/>
          <p:cNvSpPr txBox="1"/>
          <p:nvPr/>
        </p:nvSpPr>
        <p:spPr>
          <a:xfrm>
            <a:off x="3666744" y="53035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Per-request CSP nonce, HSTS, no framing, no sniffing.</a:t>
            </a:r>
            <a:endParaRPr lang="en-US" sz="1400" dirty="0"/>
          </a:p>
        </p:txBody>
      </p:sp>
      <p:sp>
        <p:nvSpPr>
          <p:cNvPr id="33" name="sec-6"/>
          <p:cNvSpPr/>
          <p:nvPr/>
        </p:nvSpPr>
        <p:spPr>
          <a:xfrm>
            <a:off x="6236208" y="39319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4" name="sec-6-badge"/>
          <p:cNvSpPr/>
          <p:nvPr/>
        </p:nvSpPr>
        <p:spPr>
          <a:xfrm>
            <a:off x="6510528" y="4206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sec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2202" y="4337914"/>
            <a:ext cx="285293" cy="285293"/>
          </a:xfrm>
          <a:prstGeom prst="rect">
            <a:avLst/>
          </a:prstGeom>
        </p:spPr>
      </p:pic>
      <p:sp>
        <p:nvSpPr>
          <p:cNvPr id="36" name="sec-6-title"/>
          <p:cNvSpPr txBox="1"/>
          <p:nvPr/>
        </p:nvSpPr>
        <p:spPr>
          <a:xfrm>
            <a:off x="6510528" y="48920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Safe errors</a:t>
            </a:r>
            <a:endParaRPr lang="en-US" sz="1700" dirty="0"/>
          </a:p>
        </p:txBody>
      </p:sp>
      <p:sp>
        <p:nvSpPr>
          <p:cNvPr id="37" name="sec-6-body"/>
          <p:cNvSpPr txBox="1"/>
          <p:nvPr/>
        </p:nvSpPr>
        <p:spPr>
          <a:xfrm>
            <a:off x="6510528" y="53035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 messages for users; no stack traces leak out.</a:t>
            </a:r>
            <a:endParaRPr lang="en-US" sz="1400" dirty="0"/>
          </a:p>
        </p:txBody>
      </p:sp>
      <p:sp>
        <p:nvSpPr>
          <p:cNvPr id="38" name="sec-7"/>
          <p:cNvSpPr/>
          <p:nvPr/>
        </p:nvSpPr>
        <p:spPr>
          <a:xfrm>
            <a:off x="9079992" y="3931920"/>
            <a:ext cx="256946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39" name="sec-7-badge"/>
          <p:cNvSpPr/>
          <p:nvPr/>
        </p:nvSpPr>
        <p:spPr>
          <a:xfrm>
            <a:off x="9354312" y="4206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sec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5986" y="4337914"/>
            <a:ext cx="285293" cy="285293"/>
          </a:xfrm>
          <a:prstGeom prst="rect">
            <a:avLst/>
          </a:prstGeom>
        </p:spPr>
      </p:pic>
      <p:sp>
        <p:nvSpPr>
          <p:cNvPr id="41" name="sec-7-title"/>
          <p:cNvSpPr txBox="1"/>
          <p:nvPr/>
        </p:nvSpPr>
        <p:spPr>
          <a:xfrm>
            <a:off x="9354312" y="489204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42" name="sec-7-body"/>
          <p:cNvSpPr txBox="1"/>
          <p:nvPr/>
        </p:nvSpPr>
        <p:spPr>
          <a:xfrm>
            <a:off x="9354312" y="5303520"/>
            <a:ext cx="2020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Actor, time and IP on every change; secrets stripped.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Modern, serverless architecture</a:t>
            </a:r>
            <a:endParaRPr lang="en-US" sz="3200" dirty="0"/>
          </a:p>
        </p:txBody>
      </p:sp>
      <p:sp>
        <p:nvSpPr>
          <p:cNvPr id="3" name="arch-0"/>
          <p:cNvSpPr/>
          <p:nvPr/>
        </p:nvSpPr>
        <p:spPr>
          <a:xfrm>
            <a:off x="548640" y="16002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4" name="arch-0-badge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rch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6" name="arch-0-title"/>
          <p:cNvSpPr txBox="1"/>
          <p:nvPr/>
        </p:nvSpPr>
        <p:spPr>
          <a:xfrm>
            <a:off x="15544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Users</a:t>
            </a:r>
            <a:endParaRPr lang="en-US" sz="2000" dirty="0"/>
          </a:p>
        </p:txBody>
      </p:sp>
      <p:sp>
        <p:nvSpPr>
          <p:cNvPr id="7" name="arch-0-body"/>
          <p:cNvSpPr txBox="1"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Browser — compliance teams, admins, consultants</a:t>
            </a:r>
            <a:endParaRPr lang="en-US" sz="1400" dirty="0"/>
          </a:p>
        </p:txBody>
      </p:sp>
      <p:sp>
        <p:nvSpPr>
          <p:cNvPr id="8" name="arch-1"/>
          <p:cNvSpPr/>
          <p:nvPr/>
        </p:nvSpPr>
        <p:spPr>
          <a:xfrm>
            <a:off x="4343400" y="16002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</p:spPr>
      </p:sp>
      <p:sp>
        <p:nvSpPr>
          <p:cNvPr id="9" name="arch-1-badge"/>
          <p:cNvSpPr/>
          <p:nvPr/>
        </p:nvSpPr>
        <p:spPr>
          <a:xfrm>
            <a:off x="4617720" y="1828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rch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394" y="1960474"/>
            <a:ext cx="285293" cy="285293"/>
          </a:xfrm>
          <a:prstGeom prst="rect">
            <a:avLst/>
          </a:prstGeom>
        </p:spPr>
      </p:pic>
      <p:sp>
        <p:nvSpPr>
          <p:cNvPr id="11" name="arch-1-title"/>
          <p:cNvSpPr txBox="1"/>
          <p:nvPr/>
        </p:nvSpPr>
        <p:spPr>
          <a:xfrm>
            <a:off x="53492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Vercel</a:t>
            </a:r>
            <a:endParaRPr lang="en-US" sz="2000" dirty="0"/>
          </a:p>
        </p:txBody>
      </p:sp>
      <p:sp>
        <p:nvSpPr>
          <p:cNvPr id="12" name="arch-1-body"/>
          <p:cNvSpPr txBox="1"/>
          <p:nvPr/>
        </p:nvSpPr>
        <p:spPr>
          <a:xfrm>
            <a:off x="461772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Next.js 16 app · server actions · security proxy</a:t>
            </a:r>
            <a:endParaRPr lang="en-US" sz="1400" dirty="0"/>
          </a:p>
        </p:txBody>
      </p:sp>
      <p:sp>
        <p:nvSpPr>
          <p:cNvPr id="13" name="arch-2"/>
          <p:cNvSpPr/>
          <p:nvPr/>
        </p:nvSpPr>
        <p:spPr>
          <a:xfrm>
            <a:off x="8138160" y="16002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4" name="arch-2-badge"/>
          <p:cNvSpPr/>
          <p:nvPr/>
        </p:nvSpPr>
        <p:spPr>
          <a:xfrm>
            <a:off x="841248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arch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4" y="1960474"/>
            <a:ext cx="285293" cy="285293"/>
          </a:xfrm>
          <a:prstGeom prst="rect">
            <a:avLst/>
          </a:prstGeom>
        </p:spPr>
      </p:pic>
      <p:sp>
        <p:nvSpPr>
          <p:cNvPr id="16" name="arch-2-title"/>
          <p:cNvSpPr txBox="1"/>
          <p:nvPr/>
        </p:nvSpPr>
        <p:spPr>
          <a:xfrm>
            <a:off x="91440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Neon Postgres</a:t>
            </a:r>
            <a:endParaRPr lang="en-US" sz="2000" dirty="0"/>
          </a:p>
        </p:txBody>
      </p:sp>
      <p:sp>
        <p:nvSpPr>
          <p:cNvPr id="17" name="arch-2-body"/>
          <p:cNvSpPr txBox="1"/>
          <p:nvPr/>
        </p:nvSpPr>
        <p:spPr>
          <a:xfrm>
            <a:off x="841248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Prisma 7 · tenant-scoped queries · audit log</a:t>
            </a:r>
            <a:endParaRPr lang="en-US" sz="1400" dirty="0"/>
          </a:p>
        </p:txBody>
      </p:sp>
      <p:pic>
        <p:nvPicPr>
          <p:cNvPr id="18" name="arrow-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2331720"/>
            <a:ext cx="292608" cy="292608"/>
          </a:xfrm>
          <a:prstGeom prst="rect">
            <a:avLst/>
          </a:prstGeom>
        </p:spPr>
      </p:pic>
      <p:pic>
        <p:nvPicPr>
          <p:cNvPr id="19" name="arrow-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2331720"/>
            <a:ext cx="292608" cy="292608"/>
          </a:xfrm>
          <a:prstGeom prst="rect">
            <a:avLst/>
          </a:prstGeom>
        </p:spPr>
      </p:pic>
      <p:sp>
        <p:nvSpPr>
          <p:cNvPr id="20" name="svc-0"/>
          <p:cNvSpPr/>
          <p:nvPr/>
        </p:nvSpPr>
        <p:spPr>
          <a:xfrm>
            <a:off x="548640" y="3886200"/>
            <a:ext cx="256946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1" name="svc-0-badge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svc-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4270248"/>
            <a:ext cx="237744" cy="237744"/>
          </a:xfrm>
          <a:prstGeom prst="rect">
            <a:avLst/>
          </a:prstGeom>
        </p:spPr>
      </p:pic>
      <p:sp>
        <p:nvSpPr>
          <p:cNvPr id="23" name="svc-0-chip"/>
          <p:cNvSpPr/>
          <p:nvPr/>
        </p:nvSpPr>
        <p:spPr>
          <a:xfrm>
            <a:off x="2098548" y="424281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svc-0-chip-text"/>
          <p:cNvSpPr txBox="1"/>
          <p:nvPr/>
        </p:nvSpPr>
        <p:spPr>
          <a:xfrm>
            <a:off x="2098548" y="424281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5</a:t>
            </a:r>
            <a:endParaRPr lang="en-US" sz="1100" dirty="0"/>
          </a:p>
        </p:txBody>
      </p:sp>
      <p:sp>
        <p:nvSpPr>
          <p:cNvPr id="25" name="svc-0-title"/>
          <p:cNvSpPr txBox="1"/>
          <p:nvPr/>
        </p:nvSpPr>
        <p:spPr>
          <a:xfrm>
            <a:off x="822960" y="480060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Claude API</a:t>
            </a:r>
            <a:endParaRPr lang="en-US" sz="1700" dirty="0"/>
          </a:p>
        </p:txBody>
      </p:sp>
      <p:sp>
        <p:nvSpPr>
          <p:cNvPr id="26" name="svc-0-body"/>
          <p:cNvSpPr txBox="1"/>
          <p:nvPr/>
        </p:nvSpPr>
        <p:spPr>
          <a:xfrm>
            <a:off x="822960" y="521208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Invoice &amp; certificate extraction</a:t>
            </a:r>
            <a:endParaRPr lang="en-US" sz="1400" dirty="0"/>
          </a:p>
        </p:txBody>
      </p:sp>
      <p:sp>
        <p:nvSpPr>
          <p:cNvPr id="27" name="svc-1"/>
          <p:cNvSpPr/>
          <p:nvPr/>
        </p:nvSpPr>
        <p:spPr>
          <a:xfrm>
            <a:off x="3392424" y="3886200"/>
            <a:ext cx="256946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svc-1-badge"/>
          <p:cNvSpPr/>
          <p:nvPr/>
        </p:nvSpPr>
        <p:spPr>
          <a:xfrm>
            <a:off x="3666744" y="41605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9" name="svc-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6472" y="4270248"/>
            <a:ext cx="237744" cy="237744"/>
          </a:xfrm>
          <a:prstGeom prst="rect">
            <a:avLst/>
          </a:prstGeom>
        </p:spPr>
      </p:pic>
      <p:sp>
        <p:nvSpPr>
          <p:cNvPr id="30" name="svc-1-chip"/>
          <p:cNvSpPr/>
          <p:nvPr/>
        </p:nvSpPr>
        <p:spPr>
          <a:xfrm>
            <a:off x="4942332" y="424281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1" name="svc-1-chip-text"/>
          <p:cNvSpPr txBox="1"/>
          <p:nvPr/>
        </p:nvSpPr>
        <p:spPr>
          <a:xfrm>
            <a:off x="4942332" y="424281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4</a:t>
            </a:r>
            <a:endParaRPr lang="en-US" sz="1100" dirty="0"/>
          </a:p>
        </p:txBody>
      </p:sp>
      <p:sp>
        <p:nvSpPr>
          <p:cNvPr id="32" name="svc-1-title"/>
          <p:cNvSpPr txBox="1"/>
          <p:nvPr/>
        </p:nvSpPr>
        <p:spPr>
          <a:xfrm>
            <a:off x="3666744" y="480060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Vercel Blob</a:t>
            </a:r>
            <a:endParaRPr lang="en-US" sz="1700" dirty="0"/>
          </a:p>
        </p:txBody>
      </p:sp>
      <p:sp>
        <p:nvSpPr>
          <p:cNvPr id="33" name="svc-1-body"/>
          <p:cNvSpPr txBox="1"/>
          <p:nvPr/>
        </p:nvSpPr>
        <p:spPr>
          <a:xfrm>
            <a:off x="3666744" y="521208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Certificate PDFs &amp; invoices</a:t>
            </a:r>
            <a:endParaRPr lang="en-US" sz="1400" dirty="0"/>
          </a:p>
        </p:txBody>
      </p:sp>
      <p:sp>
        <p:nvSpPr>
          <p:cNvPr id="34" name="svc-2"/>
          <p:cNvSpPr/>
          <p:nvPr/>
        </p:nvSpPr>
        <p:spPr>
          <a:xfrm>
            <a:off x="6236208" y="3886200"/>
            <a:ext cx="256946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5" name="svc-2-badge"/>
          <p:cNvSpPr/>
          <p:nvPr/>
        </p:nvSpPr>
        <p:spPr>
          <a:xfrm>
            <a:off x="6510528" y="41605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6" name="svc-2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256" y="4270248"/>
            <a:ext cx="237744" cy="237744"/>
          </a:xfrm>
          <a:prstGeom prst="rect">
            <a:avLst/>
          </a:prstGeom>
        </p:spPr>
      </p:pic>
      <p:sp>
        <p:nvSpPr>
          <p:cNvPr id="37" name="svc-2-chip"/>
          <p:cNvSpPr/>
          <p:nvPr/>
        </p:nvSpPr>
        <p:spPr>
          <a:xfrm>
            <a:off x="7786116" y="4242816"/>
            <a:ext cx="745236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8" name="svc-2-chip-text"/>
          <p:cNvSpPr txBox="1"/>
          <p:nvPr/>
        </p:nvSpPr>
        <p:spPr>
          <a:xfrm>
            <a:off x="7786116" y="4242816"/>
            <a:ext cx="745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6</a:t>
            </a:r>
            <a:endParaRPr lang="en-US" sz="1100" dirty="0"/>
          </a:p>
        </p:txBody>
      </p:sp>
      <p:sp>
        <p:nvSpPr>
          <p:cNvPr id="39" name="svc-2-title"/>
          <p:cNvSpPr txBox="1"/>
          <p:nvPr/>
        </p:nvSpPr>
        <p:spPr>
          <a:xfrm>
            <a:off x="6510528" y="480060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Vercel Cron</a:t>
            </a:r>
            <a:endParaRPr lang="en-US" sz="1700" dirty="0"/>
          </a:p>
        </p:txBody>
      </p:sp>
      <p:sp>
        <p:nvSpPr>
          <p:cNvPr id="40" name="svc-2-body"/>
          <p:cNvSpPr txBox="1"/>
          <p:nvPr/>
        </p:nvSpPr>
        <p:spPr>
          <a:xfrm>
            <a:off x="6510528" y="521208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Deadline reminders &amp; alerts</a:t>
            </a:r>
            <a:endParaRPr lang="en-US" sz="1400" dirty="0"/>
          </a:p>
        </p:txBody>
      </p:sp>
      <p:sp>
        <p:nvSpPr>
          <p:cNvPr id="41" name="svc-3"/>
          <p:cNvSpPr/>
          <p:nvPr/>
        </p:nvSpPr>
        <p:spPr>
          <a:xfrm>
            <a:off x="9079992" y="3886200"/>
            <a:ext cx="256946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2" name="svc-3-badge"/>
          <p:cNvSpPr/>
          <p:nvPr/>
        </p:nvSpPr>
        <p:spPr>
          <a:xfrm>
            <a:off x="9354312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3" name="svc-3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4040" y="4270248"/>
            <a:ext cx="237744" cy="237744"/>
          </a:xfrm>
          <a:prstGeom prst="rect">
            <a:avLst/>
          </a:prstGeom>
        </p:spPr>
      </p:pic>
      <p:sp>
        <p:nvSpPr>
          <p:cNvPr id="44" name="svc-3-chip"/>
          <p:cNvSpPr/>
          <p:nvPr/>
        </p:nvSpPr>
        <p:spPr>
          <a:xfrm>
            <a:off x="10863072" y="4242816"/>
            <a:ext cx="512064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5" name="svc-3-chip-text"/>
          <p:cNvSpPr txBox="1"/>
          <p:nvPr/>
        </p:nvSpPr>
        <p:spPr>
          <a:xfrm>
            <a:off x="10863072" y="4242816"/>
            <a:ext cx="512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Live</a:t>
            </a:r>
            <a:endParaRPr lang="en-US" sz="1100" dirty="0"/>
          </a:p>
        </p:txBody>
      </p:sp>
      <p:sp>
        <p:nvSpPr>
          <p:cNvPr id="46" name="svc-3-title"/>
          <p:cNvSpPr txBox="1"/>
          <p:nvPr/>
        </p:nvSpPr>
        <p:spPr>
          <a:xfrm>
            <a:off x="9354312" y="4800600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SMTP email</a:t>
            </a:r>
            <a:endParaRPr lang="en-US" sz="1700" dirty="0"/>
          </a:p>
        </p:txBody>
      </p:sp>
      <p:sp>
        <p:nvSpPr>
          <p:cNvPr id="47" name="svc-3-body"/>
          <p:cNvSpPr txBox="1"/>
          <p:nvPr/>
        </p:nvSpPr>
        <p:spPr>
          <a:xfrm>
            <a:off x="9354312" y="521208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Invites and reminders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Roadmap: seven phases to a complete platform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188720" y="2788920"/>
            <a:ext cx="9814255" cy="0"/>
          </a:xfrm>
          <a:prstGeom prst="line">
            <a:avLst/>
          </a:prstGeom>
          <a:noFill/>
          <a:ln w="38100">
            <a:solidFill>
              <a:srgbClr val="CFE9D8"/>
            </a:solidFill>
            <a:prstDash val="solid"/>
          </a:ln>
        </p:spPr>
      </p:sp>
      <p:sp>
        <p:nvSpPr>
          <p:cNvPr id="4" name="phase-0-dot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5" name="phase-0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624328"/>
            <a:ext cx="329184" cy="329184"/>
          </a:xfrm>
          <a:prstGeom prst="rect">
            <a:avLst/>
          </a:prstGeom>
        </p:spPr>
      </p:pic>
      <p:sp>
        <p:nvSpPr>
          <p:cNvPr id="6" name="phase-0-label"/>
          <p:cNvSpPr txBox="1"/>
          <p:nvPr/>
        </p:nvSpPr>
        <p:spPr>
          <a:xfrm>
            <a:off x="530352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0</a:t>
            </a:r>
            <a:endParaRPr lang="en-US" sz="1200" dirty="0"/>
          </a:p>
        </p:txBody>
      </p:sp>
      <p:sp>
        <p:nvSpPr>
          <p:cNvPr id="7" name="phase-0-title"/>
          <p:cNvSpPr txBox="1"/>
          <p:nvPr/>
        </p:nvSpPr>
        <p:spPr>
          <a:xfrm>
            <a:off x="530352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</a:t>
            </a:r>
            <a:endParaRPr lang="en-US" sz="1600" dirty="0"/>
          </a:p>
        </p:txBody>
      </p:sp>
      <p:sp>
        <p:nvSpPr>
          <p:cNvPr id="8" name="phase-0-body"/>
          <p:cNvSpPr txBox="1"/>
          <p:nvPr/>
        </p:nvSpPr>
        <p:spPr>
          <a:xfrm>
            <a:off x="530352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Schema, routes, architecture</a:t>
            </a:r>
            <a:endParaRPr lang="en-US" sz="1300" dirty="0"/>
          </a:p>
        </p:txBody>
      </p:sp>
      <p:sp>
        <p:nvSpPr>
          <p:cNvPr id="9" name="phase-1-dot"/>
          <p:cNvSpPr/>
          <p:nvPr/>
        </p:nvSpPr>
        <p:spPr>
          <a:xfrm>
            <a:off x="2270716" y="2468880"/>
            <a:ext cx="640080" cy="64008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10" name="phase-1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6164" y="2624328"/>
            <a:ext cx="329184" cy="329184"/>
          </a:xfrm>
          <a:prstGeom prst="rect">
            <a:avLst/>
          </a:prstGeom>
        </p:spPr>
      </p:pic>
      <p:sp>
        <p:nvSpPr>
          <p:cNvPr id="11" name="phase-1-label"/>
          <p:cNvSpPr txBox="1"/>
          <p:nvPr/>
        </p:nvSpPr>
        <p:spPr>
          <a:xfrm>
            <a:off x="1932388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1</a:t>
            </a:r>
            <a:endParaRPr lang="en-US" sz="1200" dirty="0"/>
          </a:p>
        </p:txBody>
      </p:sp>
      <p:sp>
        <p:nvSpPr>
          <p:cNvPr id="12" name="phase-1-title"/>
          <p:cNvSpPr txBox="1"/>
          <p:nvPr/>
        </p:nvSpPr>
        <p:spPr>
          <a:xfrm>
            <a:off x="1932388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Foundation</a:t>
            </a:r>
            <a:endParaRPr lang="en-US" sz="1600" dirty="0"/>
          </a:p>
        </p:txBody>
      </p:sp>
      <p:sp>
        <p:nvSpPr>
          <p:cNvPr id="13" name="phase-1-body"/>
          <p:cNvSpPr txBox="1"/>
          <p:nvPr/>
        </p:nvSpPr>
        <p:spPr>
          <a:xfrm>
            <a:off x="1932388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Auth, onboarding, roles, audit, security</a:t>
            </a:r>
            <a:endParaRPr lang="en-US" sz="1300" dirty="0"/>
          </a:p>
        </p:txBody>
      </p:sp>
      <p:sp>
        <p:nvSpPr>
          <p:cNvPr id="14" name="phase-2-dot"/>
          <p:cNvSpPr/>
          <p:nvPr/>
        </p:nvSpPr>
        <p:spPr>
          <a:xfrm>
            <a:off x="3672753" y="2468880"/>
            <a:ext cx="640080" cy="640080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phase-2-num"/>
          <p:cNvSpPr txBox="1"/>
          <p:nvPr/>
        </p:nvSpPr>
        <p:spPr>
          <a:xfrm>
            <a:off x="3672753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phase-2-label"/>
          <p:cNvSpPr txBox="1"/>
          <p:nvPr/>
        </p:nvSpPr>
        <p:spPr>
          <a:xfrm>
            <a:off x="3334425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2</a:t>
            </a:r>
            <a:endParaRPr lang="en-US" sz="1200" dirty="0"/>
          </a:p>
        </p:txBody>
      </p:sp>
      <p:sp>
        <p:nvSpPr>
          <p:cNvPr id="17" name="phase-2-title"/>
          <p:cNvSpPr txBox="1"/>
          <p:nvPr/>
        </p:nvSpPr>
        <p:spPr>
          <a:xfrm>
            <a:off x="3334425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entry</a:t>
            </a:r>
            <a:endParaRPr lang="en-US" sz="1600" dirty="0"/>
          </a:p>
        </p:txBody>
      </p:sp>
      <p:sp>
        <p:nvSpPr>
          <p:cNvPr id="18" name="phase-2-body"/>
          <p:cNvSpPr txBox="1"/>
          <p:nvPr/>
        </p:nvSpPr>
        <p:spPr>
          <a:xfrm>
            <a:off x="3334425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data, CSV/Excel import</a:t>
            </a:r>
            <a:endParaRPr lang="en-US" sz="1300" dirty="0"/>
          </a:p>
        </p:txBody>
      </p:sp>
      <p:sp>
        <p:nvSpPr>
          <p:cNvPr id="19" name="phase-3-dot"/>
          <p:cNvSpPr/>
          <p:nvPr/>
        </p:nvSpPr>
        <p:spPr>
          <a:xfrm>
            <a:off x="5074789" y="2468880"/>
            <a:ext cx="640080" cy="640080"/>
          </a:xfrm>
          <a:prstGeom prst="ellipse">
            <a:avLst/>
          </a:prstGeom>
          <a:solidFill>
            <a:schemeClr val="bg2"/>
          </a:solidFill>
          <a:ln w="25400">
            <a:solidFill>
              <a:srgbClr val="CFE9D8"/>
            </a:solidFill>
            <a:prstDash val="solid"/>
          </a:ln>
        </p:spPr>
      </p:sp>
      <p:sp>
        <p:nvSpPr>
          <p:cNvPr id="20" name="phase-3-num"/>
          <p:cNvSpPr txBox="1"/>
          <p:nvPr/>
        </p:nvSpPr>
        <p:spPr>
          <a:xfrm>
            <a:off x="5074789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phase-3-label"/>
          <p:cNvSpPr txBox="1"/>
          <p:nvPr/>
        </p:nvSpPr>
        <p:spPr>
          <a:xfrm>
            <a:off x="4736461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3</a:t>
            </a:r>
            <a:endParaRPr lang="en-US" sz="1200" dirty="0"/>
          </a:p>
        </p:txBody>
      </p:sp>
      <p:sp>
        <p:nvSpPr>
          <p:cNvPr id="22" name="phase-3-title"/>
          <p:cNvSpPr txBox="1"/>
          <p:nvPr/>
        </p:nvSpPr>
        <p:spPr>
          <a:xfrm>
            <a:off x="4736461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Targets</a:t>
            </a:r>
            <a:endParaRPr lang="en-US" sz="1600" dirty="0"/>
          </a:p>
        </p:txBody>
      </p:sp>
      <p:sp>
        <p:nvSpPr>
          <p:cNvPr id="23" name="phase-3-body"/>
          <p:cNvSpPr txBox="1"/>
          <p:nvPr/>
        </p:nvSpPr>
        <p:spPr>
          <a:xfrm>
            <a:off x="4736461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 engine, obligations, dashboard</a:t>
            </a:r>
            <a:endParaRPr lang="en-US" sz="1300" dirty="0"/>
          </a:p>
        </p:txBody>
      </p:sp>
      <p:sp>
        <p:nvSpPr>
          <p:cNvPr id="24" name="phase-4-dot"/>
          <p:cNvSpPr/>
          <p:nvPr/>
        </p:nvSpPr>
        <p:spPr>
          <a:xfrm>
            <a:off x="6476826" y="2468880"/>
            <a:ext cx="640080" cy="640080"/>
          </a:xfrm>
          <a:prstGeom prst="ellipse">
            <a:avLst/>
          </a:prstGeom>
          <a:solidFill>
            <a:schemeClr val="bg2"/>
          </a:solidFill>
          <a:ln w="25400">
            <a:solidFill>
              <a:srgbClr val="CFE9D8"/>
            </a:solidFill>
            <a:prstDash val="solid"/>
          </a:ln>
        </p:spPr>
      </p:sp>
      <p:sp>
        <p:nvSpPr>
          <p:cNvPr id="25" name="phase-4-num"/>
          <p:cNvSpPr txBox="1"/>
          <p:nvPr/>
        </p:nvSpPr>
        <p:spPr>
          <a:xfrm>
            <a:off x="6476826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phase-4-label"/>
          <p:cNvSpPr txBox="1"/>
          <p:nvPr/>
        </p:nvSpPr>
        <p:spPr>
          <a:xfrm>
            <a:off x="6138498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4</a:t>
            </a:r>
            <a:endParaRPr lang="en-US" sz="1200" dirty="0"/>
          </a:p>
        </p:txBody>
      </p:sp>
      <p:sp>
        <p:nvSpPr>
          <p:cNvPr id="27" name="phase-4-title"/>
          <p:cNvSpPr txBox="1"/>
          <p:nvPr/>
        </p:nvSpPr>
        <p:spPr>
          <a:xfrm>
            <a:off x="6138498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Certificates</a:t>
            </a:r>
            <a:endParaRPr lang="en-US" sz="1600" dirty="0"/>
          </a:p>
        </p:txBody>
      </p:sp>
      <p:sp>
        <p:nvSpPr>
          <p:cNvPr id="28" name="phase-4-body"/>
          <p:cNvSpPr txBox="1"/>
          <p:nvPr/>
        </p:nvSpPr>
        <p:spPr>
          <a:xfrm>
            <a:off x="6138498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Recyclers, PDFs, fraud detection</a:t>
            </a:r>
            <a:endParaRPr lang="en-US" sz="1300" dirty="0"/>
          </a:p>
        </p:txBody>
      </p:sp>
      <p:sp>
        <p:nvSpPr>
          <p:cNvPr id="29" name="phase-5-dot"/>
          <p:cNvSpPr/>
          <p:nvPr/>
        </p:nvSpPr>
        <p:spPr>
          <a:xfrm>
            <a:off x="7878862" y="2468880"/>
            <a:ext cx="640080" cy="640080"/>
          </a:xfrm>
          <a:prstGeom prst="ellipse">
            <a:avLst/>
          </a:prstGeom>
          <a:solidFill>
            <a:schemeClr val="bg2"/>
          </a:solidFill>
          <a:ln w="25400">
            <a:solidFill>
              <a:srgbClr val="CFE9D8"/>
            </a:solidFill>
            <a:prstDash val="solid"/>
          </a:ln>
        </p:spPr>
      </p:sp>
      <p:sp>
        <p:nvSpPr>
          <p:cNvPr id="30" name="phase-5-num"/>
          <p:cNvSpPr txBox="1"/>
          <p:nvPr/>
        </p:nvSpPr>
        <p:spPr>
          <a:xfrm>
            <a:off x="7878862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5</a:t>
            </a:r>
            <a:endParaRPr lang="en-US" sz="1800" dirty="0"/>
          </a:p>
        </p:txBody>
      </p:sp>
      <p:sp>
        <p:nvSpPr>
          <p:cNvPr id="31" name="phase-5-label"/>
          <p:cNvSpPr txBox="1"/>
          <p:nvPr/>
        </p:nvSpPr>
        <p:spPr>
          <a:xfrm>
            <a:off x="7540534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5</a:t>
            </a:r>
            <a:endParaRPr lang="en-US" sz="1200" dirty="0"/>
          </a:p>
        </p:txBody>
      </p:sp>
      <p:sp>
        <p:nvSpPr>
          <p:cNvPr id="32" name="phase-5-title"/>
          <p:cNvSpPr txBox="1"/>
          <p:nvPr/>
        </p:nvSpPr>
        <p:spPr>
          <a:xfrm>
            <a:off x="7540534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extraction</a:t>
            </a:r>
            <a:endParaRPr lang="en-US" sz="1600" dirty="0"/>
          </a:p>
        </p:txBody>
      </p:sp>
      <p:sp>
        <p:nvSpPr>
          <p:cNvPr id="33" name="phase-5-body"/>
          <p:cNvSpPr txBox="1"/>
          <p:nvPr/>
        </p:nvSpPr>
        <p:spPr>
          <a:xfrm>
            <a:off x="7540534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Invoices &amp; certificates via Claude</a:t>
            </a:r>
            <a:endParaRPr lang="en-US" sz="1300" dirty="0"/>
          </a:p>
        </p:txBody>
      </p:sp>
      <p:sp>
        <p:nvSpPr>
          <p:cNvPr id="34" name="phase-6-dot"/>
          <p:cNvSpPr/>
          <p:nvPr/>
        </p:nvSpPr>
        <p:spPr>
          <a:xfrm>
            <a:off x="9280899" y="2468880"/>
            <a:ext cx="640080" cy="640080"/>
          </a:xfrm>
          <a:prstGeom prst="ellipse">
            <a:avLst/>
          </a:prstGeom>
          <a:solidFill>
            <a:schemeClr val="bg2"/>
          </a:solidFill>
          <a:ln w="25400">
            <a:solidFill>
              <a:srgbClr val="CFE9D8"/>
            </a:solidFill>
            <a:prstDash val="solid"/>
          </a:ln>
        </p:spPr>
      </p:sp>
      <p:sp>
        <p:nvSpPr>
          <p:cNvPr id="35" name="phase-6-num"/>
          <p:cNvSpPr txBox="1"/>
          <p:nvPr/>
        </p:nvSpPr>
        <p:spPr>
          <a:xfrm>
            <a:off x="9280899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phase-6-label"/>
          <p:cNvSpPr txBox="1"/>
          <p:nvPr/>
        </p:nvSpPr>
        <p:spPr>
          <a:xfrm>
            <a:off x="8942571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6</a:t>
            </a:r>
            <a:endParaRPr lang="en-US" sz="1200" dirty="0"/>
          </a:p>
        </p:txBody>
      </p:sp>
      <p:sp>
        <p:nvSpPr>
          <p:cNvPr id="37" name="phase-6-title"/>
          <p:cNvSpPr txBox="1"/>
          <p:nvPr/>
        </p:nvSpPr>
        <p:spPr>
          <a:xfrm>
            <a:off x="8942571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Reports</a:t>
            </a:r>
            <a:endParaRPr lang="en-US" sz="1600" dirty="0"/>
          </a:p>
        </p:txBody>
      </p:sp>
      <p:sp>
        <p:nvSpPr>
          <p:cNvPr id="38" name="phase-6-body"/>
          <p:cNvSpPr txBox="1"/>
          <p:nvPr/>
        </p:nvSpPr>
        <p:spPr>
          <a:xfrm>
            <a:off x="8942571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CPCB exports, calendar, reminders</a:t>
            </a:r>
            <a:endParaRPr lang="en-US" sz="1300" dirty="0"/>
          </a:p>
        </p:txBody>
      </p:sp>
      <p:sp>
        <p:nvSpPr>
          <p:cNvPr id="39" name="phase-7-dot"/>
          <p:cNvSpPr/>
          <p:nvPr/>
        </p:nvSpPr>
        <p:spPr>
          <a:xfrm>
            <a:off x="10682935" y="2468880"/>
            <a:ext cx="640080" cy="640080"/>
          </a:xfrm>
          <a:prstGeom prst="ellipse">
            <a:avLst/>
          </a:prstGeom>
          <a:solidFill>
            <a:schemeClr val="bg2"/>
          </a:solidFill>
          <a:ln w="25400">
            <a:solidFill>
              <a:srgbClr val="CFE9D8"/>
            </a:solidFill>
            <a:prstDash val="solid"/>
          </a:ln>
        </p:spPr>
      </p:sp>
      <p:sp>
        <p:nvSpPr>
          <p:cNvPr id="40" name="phase-7-num"/>
          <p:cNvSpPr txBox="1"/>
          <p:nvPr/>
        </p:nvSpPr>
        <p:spPr>
          <a:xfrm>
            <a:off x="10682935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7</a:t>
            </a:r>
            <a:endParaRPr lang="en-US" sz="1800" dirty="0"/>
          </a:p>
        </p:txBody>
      </p:sp>
      <p:sp>
        <p:nvSpPr>
          <p:cNvPr id="41" name="phase-7-label"/>
          <p:cNvSpPr txBox="1"/>
          <p:nvPr/>
        </p:nvSpPr>
        <p:spPr>
          <a:xfrm>
            <a:off x="10344607" y="187452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Phase 7</a:t>
            </a:r>
            <a:endParaRPr lang="en-US" sz="1200" dirty="0"/>
          </a:p>
        </p:txBody>
      </p:sp>
      <p:sp>
        <p:nvSpPr>
          <p:cNvPr id="42" name="phase-7-title"/>
          <p:cNvSpPr txBox="1"/>
          <p:nvPr/>
        </p:nvSpPr>
        <p:spPr>
          <a:xfrm>
            <a:off x="10344607" y="333756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Launch</a:t>
            </a:r>
            <a:endParaRPr lang="en-US" sz="1600" dirty="0"/>
          </a:p>
        </p:txBody>
      </p:sp>
      <p:sp>
        <p:nvSpPr>
          <p:cNvPr id="43" name="phase-7-body"/>
          <p:cNvSpPr txBox="1"/>
          <p:nvPr/>
        </p:nvSpPr>
        <p:spPr>
          <a:xfrm>
            <a:off x="10344607" y="3749040"/>
            <a:ext cx="1316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Pricing, consultant view, deployment</a:t>
            </a:r>
            <a:endParaRPr lang="en-US" sz="1300" dirty="0"/>
          </a:p>
        </p:txBody>
      </p:sp>
      <p:sp>
        <p:nvSpPr>
          <p:cNvPr id="44" name="legend-0"/>
          <p:cNvSpPr/>
          <p:nvPr/>
        </p:nvSpPr>
        <p:spPr>
          <a:xfrm>
            <a:off x="548640" y="539496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CFE9D8"/>
            </a:solidFill>
            <a:prstDash val="solid"/>
          </a:ln>
        </p:spPr>
      </p:sp>
      <p:sp>
        <p:nvSpPr>
          <p:cNvPr id="45" name="legend-0-label"/>
          <p:cNvSpPr txBox="1"/>
          <p:nvPr/>
        </p:nvSpPr>
        <p:spPr>
          <a:xfrm>
            <a:off x="932688" y="5394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Complete</a:t>
            </a:r>
            <a:endParaRPr lang="en-US" sz="1400" dirty="0"/>
          </a:p>
        </p:txBody>
      </p:sp>
      <p:sp>
        <p:nvSpPr>
          <p:cNvPr id="46" name="legend-1"/>
          <p:cNvSpPr/>
          <p:nvPr/>
        </p:nvSpPr>
        <p:spPr>
          <a:xfrm>
            <a:off x="2377440" y="5394960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CFE9D8"/>
            </a:solidFill>
            <a:prstDash val="solid"/>
          </a:ln>
        </p:spPr>
      </p:sp>
      <p:sp>
        <p:nvSpPr>
          <p:cNvPr id="47" name="legend-1-label"/>
          <p:cNvSpPr txBox="1"/>
          <p:nvPr/>
        </p:nvSpPr>
        <p:spPr>
          <a:xfrm>
            <a:off x="2761488" y="5394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Next</a:t>
            </a:r>
            <a:endParaRPr lang="en-US" sz="1400" dirty="0"/>
          </a:p>
        </p:txBody>
      </p:sp>
      <p:sp>
        <p:nvSpPr>
          <p:cNvPr id="48" name="legend-2"/>
          <p:cNvSpPr/>
          <p:nvPr/>
        </p:nvSpPr>
        <p:spPr>
          <a:xfrm>
            <a:off x="4206240" y="5394960"/>
            <a:ext cx="274320" cy="274320"/>
          </a:xfrm>
          <a:prstGeom prst="ellipse">
            <a:avLst/>
          </a:prstGeom>
          <a:solidFill>
            <a:schemeClr val="bg2"/>
          </a:solidFill>
          <a:ln w="12700">
            <a:solidFill>
              <a:srgbClr val="CFE9D8"/>
            </a:solidFill>
            <a:prstDash val="solid"/>
          </a:ln>
        </p:spPr>
      </p:sp>
      <p:sp>
        <p:nvSpPr>
          <p:cNvPr id="49" name="legend-2-label"/>
          <p:cNvSpPr txBox="1"/>
          <p:nvPr/>
        </p:nvSpPr>
        <p:spPr>
          <a:xfrm>
            <a:off x="4590288" y="5394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Planned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Simple SaaS tiers, plus a recycler marketplace</a:t>
            </a:r>
            <a:endParaRPr lang="en-US" sz="3200" dirty="0"/>
          </a:p>
        </p:txBody>
      </p:sp>
      <p:sp>
        <p:nvSpPr>
          <p:cNvPr id="3" name="tier-0"/>
          <p:cNvSpPr/>
          <p:nvPr/>
        </p:nvSpPr>
        <p:spPr>
          <a:xfrm>
            <a:off x="548640" y="1417320"/>
            <a:ext cx="3511296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4" name="tier-0-name"/>
          <p:cNvSpPr txBox="1"/>
          <p:nvPr/>
        </p:nvSpPr>
        <p:spPr>
          <a:xfrm>
            <a:off x="868680" y="173736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Starter</a:t>
            </a:r>
            <a:endParaRPr lang="en-US" sz="2600" dirty="0"/>
          </a:p>
        </p:txBody>
      </p:sp>
      <p:sp>
        <p:nvSpPr>
          <p:cNvPr id="5" name="tier-0-who"/>
          <p:cNvSpPr txBox="1"/>
          <p:nvPr/>
        </p:nvSpPr>
        <p:spPr>
          <a:xfrm>
            <a:off x="868680" y="228600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Single brand owner or producer getting compliant</a:t>
            </a:r>
            <a:endParaRPr lang="en-US" sz="1400" dirty="0"/>
          </a:p>
        </p:txBody>
      </p:sp>
      <p:sp>
        <p:nvSpPr>
          <p:cNvPr id="6" name="tier-0-features"/>
          <p:cNvSpPr txBox="1"/>
          <p:nvPr/>
        </p:nvSpPr>
        <p:spPr>
          <a:xfrm>
            <a:off x="868680" y="3063240"/>
            <a:ext cx="28712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organisation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 targets &amp; certificates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Email reminders</a:t>
            </a:r>
            <a:endParaRPr lang="en-US" sz="1500" dirty="0"/>
          </a:p>
        </p:txBody>
      </p:sp>
      <p:sp>
        <p:nvSpPr>
          <p:cNvPr id="7" name="tier-1"/>
          <p:cNvSpPr/>
          <p:nvPr/>
        </p:nvSpPr>
        <p:spPr>
          <a:xfrm>
            <a:off x="4334256" y="1417320"/>
            <a:ext cx="3511296" cy="30632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8" name="tier-1-name"/>
          <p:cNvSpPr txBox="1"/>
          <p:nvPr/>
        </p:nvSpPr>
        <p:spPr>
          <a:xfrm>
            <a:off x="4654296" y="173736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Growth</a:t>
            </a:r>
            <a:endParaRPr lang="en-US" sz="2600" dirty="0"/>
          </a:p>
        </p:txBody>
      </p:sp>
      <p:sp>
        <p:nvSpPr>
          <p:cNvPr id="9" name="tier-1-who"/>
          <p:cNvSpPr txBox="1"/>
          <p:nvPr/>
        </p:nvSpPr>
        <p:spPr>
          <a:xfrm>
            <a:off x="4654296" y="228600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Multi-brand, multi-plant companies</a:t>
            </a:r>
            <a:endParaRPr lang="en-US" sz="1400" dirty="0"/>
          </a:p>
        </p:txBody>
      </p:sp>
      <p:sp>
        <p:nvSpPr>
          <p:cNvPr id="10" name="tier-1-features"/>
          <p:cNvSpPr txBox="1"/>
          <p:nvPr/>
        </p:nvSpPr>
        <p:spPr>
          <a:xfrm>
            <a:off x="4654296" y="3063240"/>
            <a:ext cx="28712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Multiple brands, plants, GSTINs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AI invoice extraction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CPCB-ready reports</a:t>
            </a:r>
            <a:endParaRPr lang="en-US" sz="1500" dirty="0"/>
          </a:p>
        </p:txBody>
      </p:sp>
      <p:sp>
        <p:nvSpPr>
          <p:cNvPr id="11" name="tier-2"/>
          <p:cNvSpPr/>
          <p:nvPr/>
        </p:nvSpPr>
        <p:spPr>
          <a:xfrm>
            <a:off x="8119872" y="1417320"/>
            <a:ext cx="3511296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12" name="tier-2-name"/>
          <p:cNvSpPr txBox="1"/>
          <p:nvPr/>
        </p:nvSpPr>
        <p:spPr>
          <a:xfrm>
            <a:off x="8439912" y="173736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Enterprise</a:t>
            </a:r>
            <a:endParaRPr lang="en-US" sz="2600" dirty="0"/>
          </a:p>
        </p:txBody>
      </p:sp>
      <p:sp>
        <p:nvSpPr>
          <p:cNvPr id="13" name="tier-2-who"/>
          <p:cNvSpPr txBox="1"/>
          <p:nvPr/>
        </p:nvSpPr>
        <p:spPr>
          <a:xfrm>
            <a:off x="8439912" y="228600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Large groups and consultants</a:t>
            </a:r>
            <a:endParaRPr lang="en-US" sz="1400" dirty="0"/>
          </a:p>
        </p:txBody>
      </p:sp>
      <p:sp>
        <p:nvSpPr>
          <p:cNvPr id="14" name="tier-2-features"/>
          <p:cNvSpPr txBox="1"/>
          <p:nvPr/>
        </p:nvSpPr>
        <p:spPr>
          <a:xfrm>
            <a:off x="8439912" y="3063240"/>
            <a:ext cx="28712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Consultant multi-client view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Advanced audit &amp; approvals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Priority support</a:t>
            </a:r>
            <a:endParaRPr lang="en-US" sz="1500" dirty="0"/>
          </a:p>
        </p:txBody>
      </p:sp>
      <p:sp>
        <p:nvSpPr>
          <p:cNvPr id="15" name="marketplace"/>
          <p:cNvSpPr/>
          <p:nvPr/>
        </p:nvSpPr>
        <p:spPr>
          <a:xfrm>
            <a:off x="548640" y="475488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6" name="marketplace-badge"/>
          <p:cNvSpPr/>
          <p:nvPr/>
        </p:nvSpPr>
        <p:spPr>
          <a:xfrm>
            <a:off x="777240" y="49103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marketplac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042002"/>
            <a:ext cx="285293" cy="285293"/>
          </a:xfrm>
          <a:prstGeom prst="rect">
            <a:avLst/>
          </a:prstGeom>
        </p:spPr>
      </p:pic>
      <p:sp>
        <p:nvSpPr>
          <p:cNvPr id="18" name="marketplace-text"/>
          <p:cNvSpPr txBox="1"/>
          <p:nvPr/>
        </p:nvSpPr>
        <p:spPr>
          <a:xfrm>
            <a:off x="1554480" y="4910328"/>
            <a:ext cx="9814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Marketplace (later phase):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verified recyclers list EPR certificates, companies request quotes and buy, and the platform earns a commission.</a:t>
            </a:r>
            <a:endParaRPr lang="en-US" sz="1500" dirty="0"/>
          </a:p>
        </p:txBody>
      </p:sp>
      <p:sp>
        <p:nvSpPr>
          <p:cNvPr id="19" name="pricing-note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Tier contents are indicative; pricing will be finalised at launch (phase 7).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kicker"/>
          <p:cNvSpPr txBox="1"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SEE IT IN ACTION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488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Watch the demo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747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A 4-minute walkthrough of everything live today</a:t>
            </a:r>
            <a:endParaRPr lang="en-US" sz="2200" dirty="0"/>
          </a:p>
        </p:txBody>
      </p:sp>
      <p:sp>
        <p:nvSpPr>
          <p:cNvPr id="5" name="close-0-badge"/>
          <p:cNvSpPr/>
          <p:nvPr/>
        </p:nvSpPr>
        <p:spPr>
          <a:xfrm>
            <a:off x="69494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close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1901952"/>
            <a:ext cx="356616" cy="356616"/>
          </a:xfrm>
          <a:prstGeom prst="rect">
            <a:avLst/>
          </a:prstGeom>
        </p:spPr>
      </p:pic>
      <p:sp>
        <p:nvSpPr>
          <p:cNvPr id="7" name="close-0-title"/>
          <p:cNvSpPr txBox="1"/>
          <p:nvPr/>
        </p:nvSpPr>
        <p:spPr>
          <a:xfrm>
            <a:off x="7863840" y="17190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 video</a:t>
            </a:r>
            <a:endParaRPr lang="en-US" sz="1800" dirty="0"/>
          </a:p>
        </p:txBody>
      </p:sp>
      <p:sp>
        <p:nvSpPr>
          <p:cNvPr id="8" name="close-0-body"/>
          <p:cNvSpPr txBox="1"/>
          <p:nvPr/>
        </p:nvSpPr>
        <p:spPr>
          <a:xfrm>
            <a:off x="786384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eprflow-demo.mp4</a:t>
            </a:r>
            <a:endParaRPr lang="en-US" sz="1500" dirty="0"/>
          </a:p>
        </p:txBody>
      </p:sp>
      <p:sp>
        <p:nvSpPr>
          <p:cNvPr id="9" name="close-1-badge"/>
          <p:cNvSpPr/>
          <p:nvPr/>
        </p:nvSpPr>
        <p:spPr>
          <a:xfrm>
            <a:off x="6949440" y="2971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close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3136392"/>
            <a:ext cx="356616" cy="356616"/>
          </a:xfrm>
          <a:prstGeom prst="rect">
            <a:avLst/>
          </a:prstGeom>
        </p:spPr>
      </p:pic>
      <p:sp>
        <p:nvSpPr>
          <p:cNvPr id="11" name="close-1-title"/>
          <p:cNvSpPr txBox="1"/>
          <p:nvPr/>
        </p:nvSpPr>
        <p:spPr>
          <a:xfrm>
            <a:off x="7863840" y="29535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Next up</a:t>
            </a:r>
            <a:endParaRPr lang="en-US" sz="1800" dirty="0"/>
          </a:p>
        </p:txBody>
      </p:sp>
      <p:sp>
        <p:nvSpPr>
          <p:cNvPr id="12" name="close-1-body"/>
          <p:cNvSpPr txBox="1"/>
          <p:nvPr/>
        </p:nvSpPr>
        <p:spPr>
          <a:xfrm>
            <a:off x="7863840" y="3337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Phase 2 — material data entry &amp; import</a:t>
            </a:r>
            <a:endParaRPr lang="en-US" sz="1500" dirty="0"/>
          </a:p>
        </p:txBody>
      </p:sp>
      <p:sp>
        <p:nvSpPr>
          <p:cNvPr id="13" name="close-2-badge"/>
          <p:cNvSpPr/>
          <p:nvPr/>
        </p:nvSpPr>
        <p:spPr>
          <a:xfrm>
            <a:off x="694944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close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4370832"/>
            <a:ext cx="356616" cy="356616"/>
          </a:xfrm>
          <a:prstGeom prst="rect">
            <a:avLst/>
          </a:prstGeom>
        </p:spPr>
      </p:pic>
      <p:sp>
        <p:nvSpPr>
          <p:cNvPr id="15" name="close-2-title"/>
          <p:cNvSpPr txBox="1"/>
          <p:nvPr/>
        </p:nvSpPr>
        <p:spPr>
          <a:xfrm>
            <a:off x="786384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Source</a:t>
            </a:r>
            <a:endParaRPr lang="en-US" sz="1800" dirty="0"/>
          </a:p>
        </p:txBody>
      </p:sp>
      <p:sp>
        <p:nvSpPr>
          <p:cNvPr id="16" name="close-2-body"/>
          <p:cNvSpPr txBox="1"/>
          <p:nvPr/>
        </p:nvSpPr>
        <p:spPr>
          <a:xfrm>
            <a:off x="7863840" y="4572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github.com/sanjaysaini383/EPR-Flow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RFlow Forest">
  <a:themeElements>
    <a:clrScheme name="EPRFlow Forest">
      <a:dk1>
        <a:srgbClr val="17251D"/>
      </a:dk1>
      <a:lt1>
        <a:srgbClr val="FFFFFF"/>
      </a:lt1>
      <a:dk2>
        <a:srgbClr val="0E3B23"/>
      </a:dk2>
      <a:lt2>
        <a:srgbClr val="EEF6F0"/>
      </a:lt2>
      <a:accent1>
        <a:srgbClr val="1E8A4C"/>
      </a:accent1>
      <a:accent2>
        <a:srgbClr val="7EE2A0"/>
      </a:accent2>
      <a:accent3>
        <a:srgbClr val="E9A23B"/>
      </a:accent3>
      <a:accent4>
        <a:srgbClr val="3E6B53"/>
      </a:accent4>
      <a:accent5>
        <a:srgbClr val="CFE9D8"/>
      </a:accent5>
      <a:accent6>
        <a:srgbClr val="5E6B64"/>
      </a:accent6>
      <a:hlink>
        <a:srgbClr val="1E8A4C"/>
      </a:hlink>
      <a:folHlink>
        <a:srgbClr val="3E6B53"/>
      </a:folHlink>
    </a:clrScheme>
    <a:fontScheme name="EPRFlow Fores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EPRFlow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EPRFlow — Product overview</dc:title>
  <dc:subject>PptxGenJS Presentation</dc:subject>
  <dc:creator>EPRFlow</dc:creator>
  <cp:lastModifiedBy>EPRFlow</cp:lastModifiedBy>
  <cp:revision>1</cp:revision>
  <dcterms:created xsi:type="dcterms:W3CDTF">2026-10-20T13:01:48Z</dcterms:created>
  <dcterms:modified xsi:type="dcterms:W3CDTF">2026-10-20T13:01:48Z</dcterms:modified>
</cp:coreProperties>
</file>