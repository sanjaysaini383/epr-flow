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e20c0c35-60e1-dfd0-4386-3eb2cbe8eee2}">
          <p14:sldIdLst>
            <p14:sldId id="256"/>
            <p14:sldId id="257"/>
            <p14:sldId id="258"/>
          </p14:sldIdLst>
        </p14:section>
        <p14:section name="Solution" id="{a3a3149f-94d4-db00-f486-c4d645048b0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usiness" id="{d2312f8e-3dd3-21f6-880c-f0d13958bcc0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EPRFlow is software that runs Extended Producer Responsibility compliance for Indian companies — from sales data to the CPCB annual return —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are clear, but the obligation repeats every year and touches sales, purchase and finance data across brands, plants and states. Falling short means Environmental Compensation.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pains we hear from compliance teams: hand-calculated targets, manual data entry, unverifiable certificates, missed deadlines, no consolidated view, and no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pain maps to one part of the product. The next slides show each of them working, with screenshots from the live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stored as versioned data, not code, so when CPCB changes a target it is a data update and every customer recalculates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 with Google Gemini (free tier) or Claude. Approved certificates become drafts with the file attached; invoice lines become material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checks impossible dates and prices far from the market median. Admins approve purchases; every decision is in the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generated from the same data as the dashboard, so the return always matches what the team sees. Each download is fingerprinted and kept in a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Consultants are a distribution channel: each consultant brings many client companies onto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Plastic, e-waste and battery streams are all supported. Regulation values live in versioned rules that an administrator updates when CPCB changes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indicative, per organisation per year excluding GST, with a 30-day free trial. A recycler marketplace with commission is a later revenue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product is built and tested. Next comes onboarding pilot customers, connecting billing, and the recycler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2-minute demo video, then open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EPRFlow  ·  EPR compliance for India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PITCH DECK  ·  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EPRFlow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474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Know your obligation. Trust every certificate. Never miss a deadline.</a:t>
            </a:r>
            <a:endParaRPr lang="en-US" sz="22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4937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EPR compliance software for Indian producers, importers, brand owners and their consultants</a:t>
            </a:r>
            <a:endParaRPr lang="en-US" sz="1400" dirty="0"/>
          </a:p>
        </p:txBody>
      </p:sp>
      <p:sp>
        <p:nvSpPr>
          <p:cNvPr id="6" name="hero-shot-frame"/>
          <p:cNvSpPr/>
          <p:nvPr/>
        </p:nvSpPr>
        <p:spPr>
          <a:xfrm>
            <a:off x="6665976" y="1408176"/>
            <a:ext cx="5047488" cy="3195828"/>
          </a:xfrm>
          <a:prstGeom prst="roundRect">
            <a:avLst>
              <a:gd name="adj" fmla="val 2289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7" name="hero-shot" descr="hero-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6304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brand selling in India carries an EPR obligation</a:t>
            </a:r>
            <a:endParaRPr lang="en-US" sz="3000" dirty="0"/>
          </a:p>
        </p:txBody>
      </p:sp>
      <p:sp>
        <p:nvSpPr>
          <p:cNvPr id="3" name="ctx-kicker"/>
          <p:cNvSpPr/>
          <p:nvPr/>
        </p:nvSpPr>
        <p:spPr>
          <a:xfrm>
            <a:off x="5486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ctx-kicker-text"/>
          <p:cNvSpPr txBox="1"/>
          <p:nvPr/>
        </p:nvSpPr>
        <p:spPr>
          <a:xfrm>
            <a:off x="548640" y="292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rules-list"/>
          <p:cNvSpPr txBox="1"/>
          <p:nvPr/>
        </p:nvSpPr>
        <p:spPr>
          <a:xfrm>
            <a:off x="548640" y="141732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Under the Plastic, E-Waste and Battery Waste Management rules, every producer, importer and brand owner must: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Register on the CPCB centralised EPR portal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Report every tonne placed on the market, by category and state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Buy recycling certificates to meet a yearly target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File quarterly and annual returns on time</a:t>
            </a:r>
            <a:endParaRPr lang="en-US" sz="1700" dirty="0"/>
          </a:p>
        </p:txBody>
      </p:sp>
      <p:sp>
        <p:nvSpPr>
          <p:cNvPr id="6" name="penalty"/>
          <p:cNvSpPr/>
          <p:nvPr/>
        </p:nvSpPr>
        <p:spPr>
          <a:xfrm>
            <a:off x="548640" y="470916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BF0DC"/>
          </a:solidFill>
          <a:ln/>
        </p:spPr>
      </p:sp>
      <p:sp>
        <p:nvSpPr>
          <p:cNvPr id="7" name="penalty-badge"/>
          <p:cNvSpPr/>
          <p:nvPr/>
        </p:nvSpPr>
        <p:spPr>
          <a:xfrm>
            <a:off x="822960" y="4983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penalty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59045"/>
            <a:ext cx="380390" cy="380390"/>
          </a:xfrm>
          <a:prstGeom prst="rect">
            <a:avLst/>
          </a:prstGeom>
        </p:spPr>
      </p:pic>
      <p:sp>
        <p:nvSpPr>
          <p:cNvPr id="9" name="penalty-text"/>
          <p:cNvSpPr txBox="1"/>
          <p:nvPr/>
        </p:nvSpPr>
        <p:spPr>
          <a:xfrm>
            <a:off x="1783080" y="480060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Miss the target and pay.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Any shortfall attracts Environmental Compensation — a direct financial penalty, on top of the certificates still owed.</a:t>
            </a:r>
            <a:endParaRPr lang="en-US" sz="1500" dirty="0"/>
          </a:p>
        </p:txBody>
      </p:sp>
      <p:sp>
        <p:nvSpPr>
          <p:cNvPr id="10" name="cycle"/>
          <p:cNvSpPr/>
          <p:nvPr/>
        </p:nvSpPr>
        <p:spPr>
          <a:xfrm>
            <a:off x="6629400" y="1417320"/>
            <a:ext cx="5010912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</p:sp>
      <p:sp>
        <p:nvSpPr>
          <p:cNvPr id="11" name="cycle-title"/>
          <p:cNvSpPr txBox="1"/>
          <p:nvPr/>
        </p:nvSpPr>
        <p:spPr>
          <a:xfrm>
            <a:off x="690372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yearly cycle a compliance team runs today</a:t>
            </a:r>
            <a:endParaRPr lang="en-US" sz="1600" dirty="0"/>
          </a:p>
        </p:txBody>
      </p:sp>
      <p:sp>
        <p:nvSpPr>
          <p:cNvPr id="12" name="cycle-0-badge"/>
          <p:cNvSpPr/>
          <p:nvPr/>
        </p:nvSpPr>
        <p:spPr>
          <a:xfrm>
            <a:off x="6995160" y="224028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cycle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23" y="2376343"/>
            <a:ext cx="294803" cy="294803"/>
          </a:xfrm>
          <a:prstGeom prst="rect">
            <a:avLst/>
          </a:prstGeom>
        </p:spPr>
      </p:pic>
      <p:sp>
        <p:nvSpPr>
          <p:cNvPr id="14" name="cycle-0-label"/>
          <p:cNvSpPr txBox="1"/>
          <p:nvPr/>
        </p:nvSpPr>
        <p:spPr>
          <a:xfrm>
            <a:off x="777240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Sales data</a:t>
            </a:r>
            <a:endParaRPr lang="en-US" sz="1800" dirty="0"/>
          </a:p>
        </p:txBody>
      </p:sp>
      <p:sp>
        <p:nvSpPr>
          <p:cNvPr id="15" name="cycle-0-today"/>
          <p:cNvSpPr txBox="1"/>
          <p:nvPr/>
        </p:nvSpPr>
        <p:spPr>
          <a:xfrm>
            <a:off x="9509760" y="2359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Excel, every month</a:t>
            </a:r>
            <a:endParaRPr lang="en-US" sz="1400" dirty="0"/>
          </a:p>
        </p:txBody>
      </p:sp>
      <p:sp>
        <p:nvSpPr>
          <p:cNvPr id="16" name="cycle-1-badge"/>
          <p:cNvSpPr/>
          <p:nvPr/>
        </p:nvSpPr>
        <p:spPr>
          <a:xfrm>
            <a:off x="6995160" y="3172968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cycle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223" y="3309031"/>
            <a:ext cx="294803" cy="294803"/>
          </a:xfrm>
          <a:prstGeom prst="rect">
            <a:avLst/>
          </a:prstGeom>
        </p:spPr>
      </p:pic>
      <p:sp>
        <p:nvSpPr>
          <p:cNvPr id="18" name="cycle-1-label"/>
          <p:cNvSpPr txBox="1"/>
          <p:nvPr/>
        </p:nvSpPr>
        <p:spPr>
          <a:xfrm>
            <a:off x="7772400" y="3264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Target</a:t>
            </a:r>
            <a:endParaRPr lang="en-US" sz="1800" dirty="0"/>
          </a:p>
        </p:txBody>
      </p:sp>
      <p:sp>
        <p:nvSpPr>
          <p:cNvPr id="19" name="cycle-1-today"/>
          <p:cNvSpPr txBox="1"/>
          <p:nvPr/>
        </p:nvSpPr>
        <p:spPr>
          <a:xfrm>
            <a:off x="950976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Worked out by hand</a:t>
            </a:r>
            <a:endParaRPr lang="en-US" sz="1400" dirty="0"/>
          </a:p>
        </p:txBody>
      </p:sp>
      <p:sp>
        <p:nvSpPr>
          <p:cNvPr id="20" name="cycle-2-badge"/>
          <p:cNvSpPr/>
          <p:nvPr/>
        </p:nvSpPr>
        <p:spPr>
          <a:xfrm>
            <a:off x="6995160" y="410565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cycle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223" y="4241719"/>
            <a:ext cx="294803" cy="294803"/>
          </a:xfrm>
          <a:prstGeom prst="rect">
            <a:avLst/>
          </a:prstGeom>
        </p:spPr>
      </p:pic>
      <p:sp>
        <p:nvSpPr>
          <p:cNvPr id="22" name="cycle-2-label"/>
          <p:cNvSpPr txBox="1"/>
          <p:nvPr/>
        </p:nvSpPr>
        <p:spPr>
          <a:xfrm>
            <a:off x="7772400" y="4197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Certificates</a:t>
            </a:r>
            <a:endParaRPr lang="en-US" sz="1800" dirty="0"/>
          </a:p>
        </p:txBody>
      </p:sp>
      <p:sp>
        <p:nvSpPr>
          <p:cNvPr id="23" name="cycle-2-today"/>
          <p:cNvSpPr txBox="1"/>
          <p:nvPr/>
        </p:nvSpPr>
        <p:spPr>
          <a:xfrm>
            <a:off x="9509760" y="4224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Typed in, unverified</a:t>
            </a:r>
            <a:endParaRPr lang="en-US" sz="1400" dirty="0"/>
          </a:p>
        </p:txBody>
      </p:sp>
      <p:sp>
        <p:nvSpPr>
          <p:cNvPr id="24" name="cycle-3-badge"/>
          <p:cNvSpPr/>
          <p:nvPr/>
        </p:nvSpPr>
        <p:spPr>
          <a:xfrm>
            <a:off x="6995160" y="5038344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cycle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23" y="5174407"/>
            <a:ext cx="294803" cy="294803"/>
          </a:xfrm>
          <a:prstGeom prst="rect">
            <a:avLst/>
          </a:prstGeom>
        </p:spPr>
      </p:pic>
      <p:sp>
        <p:nvSpPr>
          <p:cNvPr id="26" name="cycle-3-label"/>
          <p:cNvSpPr txBox="1"/>
          <p:nvPr/>
        </p:nvSpPr>
        <p:spPr>
          <a:xfrm>
            <a:off x="7772400" y="5129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CPCB return</a:t>
            </a:r>
            <a:endParaRPr lang="en-US" sz="1800" dirty="0"/>
          </a:p>
        </p:txBody>
      </p:sp>
      <p:sp>
        <p:nvSpPr>
          <p:cNvPr id="27" name="cycle-3-today"/>
          <p:cNvSpPr txBox="1"/>
          <p:nvPr/>
        </p:nvSpPr>
        <p:spPr>
          <a:xfrm>
            <a:off x="9509760" y="51572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Chased by email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And it still runs on spreadsheets, PDFs and email</a:t>
            </a:r>
            <a:endParaRPr lang="en-US" sz="3000" dirty="0"/>
          </a:p>
        </p:txBody>
      </p:sp>
      <p:sp>
        <p:nvSpPr>
          <p:cNvPr id="3" name="pain-kicker"/>
          <p:cNvSpPr/>
          <p:nvPr/>
        </p:nvSpPr>
        <p:spPr>
          <a:xfrm>
            <a:off x="5486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pain-kicker-text"/>
          <p:cNvSpPr txBox="1"/>
          <p:nvPr/>
        </p:nvSpPr>
        <p:spPr>
          <a:xfrm>
            <a:off x="548640" y="292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pain-0"/>
          <p:cNvSpPr/>
          <p:nvPr/>
        </p:nvSpPr>
        <p:spPr>
          <a:xfrm>
            <a:off x="548640" y="141732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6" name="pain-0-badg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pain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8" name="pain-0-title"/>
          <p:cNvSpPr txBox="1"/>
          <p:nvPr/>
        </p:nvSpPr>
        <p:spPr>
          <a:xfrm>
            <a:off x="822960" y="2377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Targets calculated by hand</a:t>
            </a:r>
            <a:endParaRPr lang="en-US" sz="1700" dirty="0"/>
          </a:p>
        </p:txBody>
      </p:sp>
      <p:sp>
        <p:nvSpPr>
          <p:cNvPr id="9" name="pain-0-body"/>
          <p:cNvSpPr txBox="1"/>
          <p:nvPr/>
        </p:nvSpPr>
        <p:spPr>
          <a:xfrm>
            <a:off x="822960" y="277063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Category-wise targets from two years of sales data, in Excel. One wrong formula and the whole year is off.</a:t>
            </a:r>
            <a:endParaRPr lang="en-US" sz="1300" dirty="0"/>
          </a:p>
        </p:txBody>
      </p:sp>
      <p:sp>
        <p:nvSpPr>
          <p:cNvPr id="10" name="pain-1"/>
          <p:cNvSpPr/>
          <p:nvPr/>
        </p:nvSpPr>
        <p:spPr>
          <a:xfrm>
            <a:off x="4334256" y="141732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1" name="pain-1-badge"/>
          <p:cNvSpPr/>
          <p:nvPr/>
        </p:nvSpPr>
        <p:spPr>
          <a:xfrm>
            <a:off x="4608576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pain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50" y="1823314"/>
            <a:ext cx="285293" cy="285293"/>
          </a:xfrm>
          <a:prstGeom prst="rect">
            <a:avLst/>
          </a:prstGeom>
        </p:spPr>
      </p:pic>
      <p:sp>
        <p:nvSpPr>
          <p:cNvPr id="13" name="pain-1-title"/>
          <p:cNvSpPr txBox="1"/>
          <p:nvPr/>
        </p:nvSpPr>
        <p:spPr>
          <a:xfrm>
            <a:off x="4608576" y="2377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Every document typed in</a:t>
            </a:r>
            <a:endParaRPr lang="en-US" sz="1700" dirty="0"/>
          </a:p>
        </p:txBody>
      </p:sp>
      <p:sp>
        <p:nvSpPr>
          <p:cNvPr id="14" name="pain-1-body"/>
          <p:cNvSpPr txBox="1"/>
          <p:nvPr/>
        </p:nvSpPr>
        <p:spPr>
          <a:xfrm>
            <a:off x="4608576" y="277063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Recycler certificates and invoices arrive as PDFs and photos, and are re-keyed line by line.</a:t>
            </a:r>
            <a:endParaRPr lang="en-US" sz="1300" dirty="0"/>
          </a:p>
        </p:txBody>
      </p:sp>
      <p:sp>
        <p:nvSpPr>
          <p:cNvPr id="15" name="pain-2"/>
          <p:cNvSpPr/>
          <p:nvPr/>
        </p:nvSpPr>
        <p:spPr>
          <a:xfrm>
            <a:off x="8119872" y="141732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6" name="pain-2-badge"/>
          <p:cNvSpPr/>
          <p:nvPr/>
        </p:nvSpPr>
        <p:spPr>
          <a:xfrm>
            <a:off x="8394192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pain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1823314"/>
            <a:ext cx="285293" cy="285293"/>
          </a:xfrm>
          <a:prstGeom prst="rect">
            <a:avLst/>
          </a:prstGeom>
        </p:spPr>
      </p:pic>
      <p:sp>
        <p:nvSpPr>
          <p:cNvPr id="18" name="pain-2-title"/>
          <p:cNvSpPr txBox="1"/>
          <p:nvPr/>
        </p:nvSpPr>
        <p:spPr>
          <a:xfrm>
            <a:off x="8394192" y="2377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Fake and double-sold certificates</a:t>
            </a:r>
            <a:endParaRPr lang="en-US" sz="1700" dirty="0"/>
          </a:p>
        </p:txBody>
      </p:sp>
      <p:sp>
        <p:nvSpPr>
          <p:cNvPr id="19" name="pain-2-body"/>
          <p:cNvSpPr txBox="1"/>
          <p:nvPr/>
        </p:nvSpPr>
        <p:spPr>
          <a:xfrm>
            <a:off x="8394192" y="277063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certificate can be sold to two companies, or come from an unverified recycler. Nobody checks.</a:t>
            </a:r>
            <a:endParaRPr lang="en-US" sz="1300" dirty="0"/>
          </a:p>
        </p:txBody>
      </p:sp>
      <p:sp>
        <p:nvSpPr>
          <p:cNvPr id="20" name="pain-3"/>
          <p:cNvSpPr/>
          <p:nvPr/>
        </p:nvSpPr>
        <p:spPr>
          <a:xfrm>
            <a:off x="548640" y="393192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1" name="pain-3-badge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pain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337914"/>
            <a:ext cx="285293" cy="285293"/>
          </a:xfrm>
          <a:prstGeom prst="rect">
            <a:avLst/>
          </a:prstGeom>
        </p:spPr>
      </p:pic>
      <p:sp>
        <p:nvSpPr>
          <p:cNvPr id="23" name="pain-3-title"/>
          <p:cNvSpPr txBox="1"/>
          <p:nvPr/>
        </p:nvSpPr>
        <p:spPr>
          <a:xfrm>
            <a:off x="822960" y="48920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Missed CPCB deadlines</a:t>
            </a:r>
            <a:endParaRPr lang="en-US" sz="1700" dirty="0"/>
          </a:p>
        </p:txBody>
      </p:sp>
      <p:sp>
        <p:nvSpPr>
          <p:cNvPr id="24" name="pain-3-body"/>
          <p:cNvSpPr txBox="1"/>
          <p:nvPr/>
        </p:nvSpPr>
        <p:spPr>
          <a:xfrm>
            <a:off x="822960" y="528523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Filing dates live in inboxes. A missed return becomes a penalty.</a:t>
            </a:r>
            <a:endParaRPr lang="en-US" sz="1300" dirty="0"/>
          </a:p>
        </p:txBody>
      </p:sp>
      <p:sp>
        <p:nvSpPr>
          <p:cNvPr id="25" name="pain-4"/>
          <p:cNvSpPr/>
          <p:nvPr/>
        </p:nvSpPr>
        <p:spPr>
          <a:xfrm>
            <a:off x="4334256" y="393192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6" name="pain-4-badge"/>
          <p:cNvSpPr/>
          <p:nvPr/>
        </p:nvSpPr>
        <p:spPr>
          <a:xfrm>
            <a:off x="4608576" y="4206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pain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250" y="4337914"/>
            <a:ext cx="285293" cy="285293"/>
          </a:xfrm>
          <a:prstGeom prst="rect">
            <a:avLst/>
          </a:prstGeom>
        </p:spPr>
      </p:pic>
      <p:sp>
        <p:nvSpPr>
          <p:cNvPr id="28" name="pain-4-title"/>
          <p:cNvSpPr txBox="1"/>
          <p:nvPr/>
        </p:nvSpPr>
        <p:spPr>
          <a:xfrm>
            <a:off x="4608576" y="48920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single view</a:t>
            </a:r>
            <a:endParaRPr lang="en-US" sz="1700" dirty="0"/>
          </a:p>
        </p:txBody>
      </p:sp>
      <p:sp>
        <p:nvSpPr>
          <p:cNvPr id="29" name="pain-4-body"/>
          <p:cNvSpPr txBox="1"/>
          <p:nvPr/>
        </p:nvSpPr>
        <p:spPr>
          <a:xfrm>
            <a:off x="4608576" y="528523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one sees the position across brands, plants, GSTINs and states — least of all consultants with many clients.</a:t>
            </a:r>
            <a:endParaRPr lang="en-US" sz="1300" dirty="0"/>
          </a:p>
        </p:txBody>
      </p:sp>
      <p:sp>
        <p:nvSpPr>
          <p:cNvPr id="30" name="pain-5"/>
          <p:cNvSpPr/>
          <p:nvPr/>
        </p:nvSpPr>
        <p:spPr>
          <a:xfrm>
            <a:off x="8119872" y="393192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31" name="pain-5-badge"/>
          <p:cNvSpPr/>
          <p:nvPr/>
        </p:nvSpPr>
        <p:spPr>
          <a:xfrm>
            <a:off x="8394192" y="4206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2" name="pain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866" y="4337914"/>
            <a:ext cx="285293" cy="285293"/>
          </a:xfrm>
          <a:prstGeom prst="rect">
            <a:avLst/>
          </a:prstGeom>
        </p:spPr>
      </p:pic>
      <p:sp>
        <p:nvSpPr>
          <p:cNvPr id="33" name="pain-5-title"/>
          <p:cNvSpPr txBox="1"/>
          <p:nvPr/>
        </p:nvSpPr>
        <p:spPr>
          <a:xfrm>
            <a:off x="8394192" y="48920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Nothing to show an auditor</a:t>
            </a:r>
            <a:endParaRPr lang="en-US" sz="1700" dirty="0"/>
          </a:p>
        </p:txBody>
      </p:sp>
      <p:sp>
        <p:nvSpPr>
          <p:cNvPr id="34" name="pain-5-body"/>
          <p:cNvSpPr txBox="1"/>
          <p:nvPr/>
        </p:nvSpPr>
        <p:spPr>
          <a:xfrm>
            <a:off x="8394192" y="528523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Who changed what, and why, is lost in email threads and file versions.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EPRFlow fixes each of these in one workspace</a:t>
            </a:r>
            <a:endParaRPr lang="en-US" sz="3000" dirty="0"/>
          </a:p>
        </p:txBody>
      </p:sp>
      <p:sp>
        <p:nvSpPr>
          <p:cNvPr id="3" name="map-kicker"/>
          <p:cNvSpPr/>
          <p:nvPr/>
        </p:nvSpPr>
        <p:spPr>
          <a:xfrm>
            <a:off x="548640" y="292608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map-kicker-text"/>
          <p:cNvSpPr txBox="1"/>
          <p:nvPr/>
        </p:nvSpPr>
        <p:spPr>
          <a:xfrm>
            <a:off x="54864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col-problem"/>
          <p:cNvSpPr txBox="1"/>
          <p:nvPr/>
        </p:nvSpPr>
        <p:spPr>
          <a:xfrm>
            <a:off x="54864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PROBLEM</a:t>
            </a:r>
            <a:endParaRPr lang="en-US" sz="1200" dirty="0"/>
          </a:p>
        </p:txBody>
      </p:sp>
      <p:sp>
        <p:nvSpPr>
          <p:cNvPr id="6" name="col-solution"/>
          <p:cNvSpPr txBox="1"/>
          <p:nvPr/>
        </p:nvSpPr>
        <p:spPr>
          <a:xfrm>
            <a:off x="5349240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HOW EPRFLOW SOLVES IT</a:t>
            </a:r>
            <a:endParaRPr lang="en-US" sz="1200" dirty="0"/>
          </a:p>
        </p:txBody>
      </p:sp>
      <p:sp>
        <p:nvSpPr>
          <p:cNvPr id="7" name="map-0-p"/>
          <p:cNvSpPr/>
          <p:nvPr/>
        </p:nvSpPr>
        <p:spPr>
          <a:xfrm>
            <a:off x="548640" y="1755648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BF0DC"/>
          </a:solidFill>
          <a:ln/>
        </p:spPr>
      </p:sp>
      <p:sp>
        <p:nvSpPr>
          <p:cNvPr id="8" name="map-0-p-text"/>
          <p:cNvSpPr txBox="1"/>
          <p:nvPr/>
        </p:nvSpPr>
        <p:spPr>
          <a:xfrm>
            <a:off x="777240" y="1755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Targets calculated by hand</a:t>
            </a:r>
            <a:endParaRPr lang="en-US" sz="1500" dirty="0"/>
          </a:p>
        </p:txBody>
      </p:sp>
      <p:pic>
        <p:nvPicPr>
          <p:cNvPr id="9" name="map-0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938528"/>
            <a:ext cx="274320" cy="274320"/>
          </a:xfrm>
          <a:prstGeom prst="rect">
            <a:avLst/>
          </a:prstGeom>
        </p:spPr>
      </p:pic>
      <p:sp>
        <p:nvSpPr>
          <p:cNvPr id="10" name="map-0-s"/>
          <p:cNvSpPr/>
          <p:nvPr/>
        </p:nvSpPr>
        <p:spPr>
          <a:xfrm>
            <a:off x="5257800" y="1755648"/>
            <a:ext cx="638525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1" name="map-0-s-badge"/>
          <p:cNvSpPr/>
          <p:nvPr/>
        </p:nvSpPr>
        <p:spPr>
          <a:xfrm>
            <a:off x="5413248" y="1892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map-0-s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30" y="1980590"/>
            <a:ext cx="190195" cy="190195"/>
          </a:xfrm>
          <a:prstGeom prst="rect">
            <a:avLst/>
          </a:prstGeom>
        </p:spPr>
      </p:pic>
      <p:sp>
        <p:nvSpPr>
          <p:cNvPr id="13" name="map-0-s-text"/>
          <p:cNvSpPr txBox="1"/>
          <p:nvPr/>
        </p:nvSpPr>
        <p:spPr>
          <a:xfrm>
            <a:off x="5943600" y="1755648"/>
            <a:ext cx="5470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Automatic targets from versioned CPCB rules, with shortfall and EC risk</a:t>
            </a:r>
            <a:endParaRPr lang="en-US" sz="1500" dirty="0"/>
          </a:p>
        </p:txBody>
      </p:sp>
      <p:sp>
        <p:nvSpPr>
          <p:cNvPr id="14" name="map-1-p"/>
          <p:cNvSpPr/>
          <p:nvPr/>
        </p:nvSpPr>
        <p:spPr>
          <a:xfrm>
            <a:off x="548640" y="2523744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BF0DC"/>
          </a:solidFill>
          <a:ln/>
        </p:spPr>
      </p:sp>
      <p:sp>
        <p:nvSpPr>
          <p:cNvPr id="15" name="map-1-p-text"/>
          <p:cNvSpPr txBox="1"/>
          <p:nvPr/>
        </p:nvSpPr>
        <p:spPr>
          <a:xfrm>
            <a:off x="777240" y="25237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document typed in</a:t>
            </a:r>
            <a:endParaRPr lang="en-US" sz="1500" dirty="0"/>
          </a:p>
        </p:txBody>
      </p:sp>
      <p:pic>
        <p:nvPicPr>
          <p:cNvPr id="16" name="map-1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706624"/>
            <a:ext cx="274320" cy="274320"/>
          </a:xfrm>
          <a:prstGeom prst="rect">
            <a:avLst/>
          </a:prstGeom>
        </p:spPr>
      </p:pic>
      <p:sp>
        <p:nvSpPr>
          <p:cNvPr id="17" name="map-1-s"/>
          <p:cNvSpPr/>
          <p:nvPr/>
        </p:nvSpPr>
        <p:spPr>
          <a:xfrm>
            <a:off x="5257800" y="2523744"/>
            <a:ext cx="638525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8" name="map-1-s-badge"/>
          <p:cNvSpPr/>
          <p:nvPr/>
        </p:nvSpPr>
        <p:spPr>
          <a:xfrm>
            <a:off x="5413248" y="26609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map-1-s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30" y="2748686"/>
            <a:ext cx="190195" cy="190195"/>
          </a:xfrm>
          <a:prstGeom prst="rect">
            <a:avLst/>
          </a:prstGeom>
        </p:spPr>
      </p:pic>
      <p:sp>
        <p:nvSpPr>
          <p:cNvPr id="20" name="map-1-s-text"/>
          <p:cNvSpPr txBox="1"/>
          <p:nvPr/>
        </p:nvSpPr>
        <p:spPr>
          <a:xfrm>
            <a:off x="5943600" y="2523744"/>
            <a:ext cx="5470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reads certificates and invoices; a person checks and approves</a:t>
            </a:r>
            <a:endParaRPr lang="en-US" sz="1500" dirty="0"/>
          </a:p>
        </p:txBody>
      </p:sp>
      <p:sp>
        <p:nvSpPr>
          <p:cNvPr id="21" name="map-2-p"/>
          <p:cNvSpPr/>
          <p:nvPr/>
        </p:nvSpPr>
        <p:spPr>
          <a:xfrm>
            <a:off x="548640" y="329184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BF0DC"/>
          </a:solidFill>
          <a:ln/>
        </p:spPr>
      </p:sp>
      <p:sp>
        <p:nvSpPr>
          <p:cNvPr id="22" name="map-2-p-text"/>
          <p:cNvSpPr txBox="1"/>
          <p:nvPr/>
        </p:nvSpPr>
        <p:spPr>
          <a:xfrm>
            <a:off x="777240" y="3291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Fake and double-sold certificates</a:t>
            </a:r>
            <a:endParaRPr lang="en-US" sz="1500" dirty="0"/>
          </a:p>
        </p:txBody>
      </p:sp>
      <p:pic>
        <p:nvPicPr>
          <p:cNvPr id="23" name="map-2-arro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474720"/>
            <a:ext cx="274320" cy="274320"/>
          </a:xfrm>
          <a:prstGeom prst="rect">
            <a:avLst/>
          </a:prstGeom>
        </p:spPr>
      </p:pic>
      <p:sp>
        <p:nvSpPr>
          <p:cNvPr id="24" name="map-2-s"/>
          <p:cNvSpPr/>
          <p:nvPr/>
        </p:nvSpPr>
        <p:spPr>
          <a:xfrm>
            <a:off x="5257800" y="3291840"/>
            <a:ext cx="638525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5" name="map-2-s-badge"/>
          <p:cNvSpPr/>
          <p:nvPr/>
        </p:nvSpPr>
        <p:spPr>
          <a:xfrm>
            <a:off x="5413248" y="3429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map-2-s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1030" y="3516782"/>
            <a:ext cx="190195" cy="190195"/>
          </a:xfrm>
          <a:prstGeom prst="rect">
            <a:avLst/>
          </a:prstGeom>
        </p:spPr>
      </p:pic>
      <p:sp>
        <p:nvSpPr>
          <p:cNvPr id="27" name="map-2-s-text"/>
          <p:cNvSpPr txBox="1"/>
          <p:nvPr/>
        </p:nvSpPr>
        <p:spPr>
          <a:xfrm>
            <a:off x="5943600" y="3291840"/>
            <a:ext cx="5470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Fraud checks on every certificate; flagged ones cannot be approved</a:t>
            </a:r>
            <a:endParaRPr lang="en-US" sz="1500" dirty="0"/>
          </a:p>
        </p:txBody>
      </p:sp>
      <p:sp>
        <p:nvSpPr>
          <p:cNvPr id="28" name="map-3-p"/>
          <p:cNvSpPr/>
          <p:nvPr/>
        </p:nvSpPr>
        <p:spPr>
          <a:xfrm>
            <a:off x="548640" y="4059936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BF0DC"/>
          </a:solidFill>
          <a:ln/>
        </p:spPr>
      </p:sp>
      <p:sp>
        <p:nvSpPr>
          <p:cNvPr id="29" name="map-3-p-text"/>
          <p:cNvSpPr txBox="1"/>
          <p:nvPr/>
        </p:nvSpPr>
        <p:spPr>
          <a:xfrm>
            <a:off x="777240" y="40599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Missed CPCB deadlines</a:t>
            </a:r>
            <a:endParaRPr lang="en-US" sz="1500" dirty="0"/>
          </a:p>
        </p:txBody>
      </p:sp>
      <p:pic>
        <p:nvPicPr>
          <p:cNvPr id="30" name="map-3-arrow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242816"/>
            <a:ext cx="274320" cy="274320"/>
          </a:xfrm>
          <a:prstGeom prst="rect">
            <a:avLst/>
          </a:prstGeom>
        </p:spPr>
      </p:pic>
      <p:sp>
        <p:nvSpPr>
          <p:cNvPr id="31" name="map-3-s"/>
          <p:cNvSpPr/>
          <p:nvPr/>
        </p:nvSpPr>
        <p:spPr>
          <a:xfrm>
            <a:off x="5257800" y="4059936"/>
            <a:ext cx="638525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32" name="map-3-s-badge"/>
          <p:cNvSpPr/>
          <p:nvPr/>
        </p:nvSpPr>
        <p:spPr>
          <a:xfrm>
            <a:off x="5413248" y="41970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map-3-s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1030" y="4284878"/>
            <a:ext cx="190195" cy="190195"/>
          </a:xfrm>
          <a:prstGeom prst="rect">
            <a:avLst/>
          </a:prstGeom>
        </p:spPr>
      </p:pic>
      <p:sp>
        <p:nvSpPr>
          <p:cNvPr id="34" name="map-3-s-text"/>
          <p:cNvSpPr txBox="1"/>
          <p:nvPr/>
        </p:nvSpPr>
        <p:spPr>
          <a:xfrm>
            <a:off x="5943600" y="4059936"/>
            <a:ext cx="5470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Compliance calendar with email reminders 30, 7 and 1 day before</a:t>
            </a:r>
            <a:endParaRPr lang="en-US" sz="1500" dirty="0"/>
          </a:p>
        </p:txBody>
      </p:sp>
      <p:sp>
        <p:nvSpPr>
          <p:cNvPr id="35" name="map-4-p"/>
          <p:cNvSpPr/>
          <p:nvPr/>
        </p:nvSpPr>
        <p:spPr>
          <a:xfrm>
            <a:off x="548640" y="4828032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BF0DC"/>
          </a:solidFill>
          <a:ln/>
        </p:spPr>
      </p:sp>
      <p:sp>
        <p:nvSpPr>
          <p:cNvPr id="36" name="map-4-p-text"/>
          <p:cNvSpPr txBox="1"/>
          <p:nvPr/>
        </p:nvSpPr>
        <p:spPr>
          <a:xfrm>
            <a:off x="777240" y="48280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single view</a:t>
            </a:r>
            <a:endParaRPr lang="en-US" sz="1500" dirty="0"/>
          </a:p>
        </p:txBody>
      </p:sp>
      <p:pic>
        <p:nvPicPr>
          <p:cNvPr id="37" name="map-4-arrow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5010912"/>
            <a:ext cx="274320" cy="274320"/>
          </a:xfrm>
          <a:prstGeom prst="rect">
            <a:avLst/>
          </a:prstGeom>
        </p:spPr>
      </p:pic>
      <p:sp>
        <p:nvSpPr>
          <p:cNvPr id="38" name="map-4-s"/>
          <p:cNvSpPr/>
          <p:nvPr/>
        </p:nvSpPr>
        <p:spPr>
          <a:xfrm>
            <a:off x="5257800" y="4828032"/>
            <a:ext cx="638525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39" name="map-4-s-badge"/>
          <p:cNvSpPr/>
          <p:nvPr/>
        </p:nvSpPr>
        <p:spPr>
          <a:xfrm>
            <a:off x="5413248" y="49651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map-4-s-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1030" y="5052974"/>
            <a:ext cx="190195" cy="190195"/>
          </a:xfrm>
          <a:prstGeom prst="rect">
            <a:avLst/>
          </a:prstGeom>
        </p:spPr>
      </p:pic>
      <p:sp>
        <p:nvSpPr>
          <p:cNvPr id="41" name="map-4-s-text"/>
          <p:cNvSpPr txBox="1"/>
          <p:nvPr/>
        </p:nvSpPr>
        <p:spPr>
          <a:xfrm>
            <a:off x="5943600" y="4828032"/>
            <a:ext cx="5470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dashboard per company, and one overview across all clients</a:t>
            </a:r>
            <a:endParaRPr lang="en-US" sz="1500" dirty="0"/>
          </a:p>
        </p:txBody>
      </p:sp>
      <p:sp>
        <p:nvSpPr>
          <p:cNvPr id="42" name="map-5-p"/>
          <p:cNvSpPr/>
          <p:nvPr/>
        </p:nvSpPr>
        <p:spPr>
          <a:xfrm>
            <a:off x="548640" y="5596128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BF0DC"/>
          </a:solidFill>
          <a:ln/>
        </p:spPr>
      </p:sp>
      <p:sp>
        <p:nvSpPr>
          <p:cNvPr id="43" name="map-5-p-text"/>
          <p:cNvSpPr txBox="1"/>
          <p:nvPr/>
        </p:nvSpPr>
        <p:spPr>
          <a:xfrm>
            <a:off x="777240" y="55961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Nothing to show an auditor</a:t>
            </a:r>
            <a:endParaRPr lang="en-US" sz="1500" dirty="0"/>
          </a:p>
        </p:txBody>
      </p:sp>
      <p:pic>
        <p:nvPicPr>
          <p:cNvPr id="44" name="map-5-arrow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888" y="5779008"/>
            <a:ext cx="274320" cy="274320"/>
          </a:xfrm>
          <a:prstGeom prst="rect">
            <a:avLst/>
          </a:prstGeom>
        </p:spPr>
      </p:pic>
      <p:sp>
        <p:nvSpPr>
          <p:cNvPr id="45" name="map-5-s"/>
          <p:cNvSpPr/>
          <p:nvPr/>
        </p:nvSpPr>
        <p:spPr>
          <a:xfrm>
            <a:off x="5257800" y="5596128"/>
            <a:ext cx="638525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46" name="map-5-s-badge"/>
          <p:cNvSpPr/>
          <p:nvPr/>
        </p:nvSpPr>
        <p:spPr>
          <a:xfrm>
            <a:off x="5413248" y="57332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map-5-s-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1030" y="5821070"/>
            <a:ext cx="190195" cy="190195"/>
          </a:xfrm>
          <a:prstGeom prst="rect">
            <a:avLst/>
          </a:prstGeom>
        </p:spPr>
      </p:pic>
      <p:sp>
        <p:nvSpPr>
          <p:cNvPr id="48" name="map-5-s-text"/>
          <p:cNvSpPr txBox="1"/>
          <p:nvPr/>
        </p:nvSpPr>
        <p:spPr>
          <a:xfrm>
            <a:off x="5943600" y="5596128"/>
            <a:ext cx="5470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change logged; CPCB return and registers in one click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Targets and risk, calculated automatically</a:t>
            </a:r>
            <a:endParaRPr lang="en-US" sz="3000" dirty="0"/>
          </a:p>
        </p:txBody>
      </p:sp>
      <p:sp>
        <p:nvSpPr>
          <p:cNvPr id="3" name="targets-kicker"/>
          <p:cNvSpPr/>
          <p:nvPr/>
        </p:nvSpPr>
        <p:spPr>
          <a:xfrm>
            <a:off x="548640" y="292608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argets-kicker-text"/>
          <p:cNvSpPr txBox="1"/>
          <p:nvPr/>
        </p:nvSpPr>
        <p:spPr>
          <a:xfrm>
            <a:off x="54864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SOLUTION</a:t>
            </a:r>
            <a:endParaRPr lang="en-US" sz="1100" dirty="0"/>
          </a:p>
        </p:txBody>
      </p:sp>
      <p:sp>
        <p:nvSpPr>
          <p:cNvPr id="5" name="targets-problem"/>
          <p:cNvSpPr/>
          <p:nvPr/>
        </p:nvSpPr>
        <p:spPr>
          <a:xfrm>
            <a:off x="548640" y="12801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BF0DC"/>
          </a:solidFill>
          <a:ln/>
        </p:spPr>
      </p:sp>
      <p:sp>
        <p:nvSpPr>
          <p:cNvPr id="6" name="targets-problem-badge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targets-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463772"/>
            <a:ext cx="199705" cy="199705"/>
          </a:xfrm>
          <a:prstGeom prst="rect">
            <a:avLst/>
          </a:prstGeom>
        </p:spPr>
      </p:pic>
      <p:sp>
        <p:nvSpPr>
          <p:cNvPr id="8" name="targets-problem-text"/>
          <p:cNvSpPr txBox="1"/>
          <p:nvPr/>
        </p:nvSpPr>
        <p:spPr>
          <a:xfrm>
            <a:off x="1234440" y="128016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targets are worked out by hand in Excel, and nobody knows the shortfall until it is too late.</a:t>
            </a:r>
            <a:endParaRPr lang="en-US" sz="1500" dirty="0"/>
          </a:p>
        </p:txBody>
      </p:sp>
      <p:sp>
        <p:nvSpPr>
          <p:cNvPr id="9" name="targets-shot-frame"/>
          <p:cNvSpPr/>
          <p:nvPr/>
        </p:nvSpPr>
        <p:spPr>
          <a:xfrm>
            <a:off x="493776" y="2093976"/>
            <a:ext cx="6967728" cy="4395978"/>
          </a:xfrm>
          <a:prstGeom prst="roundRect">
            <a:avLst>
              <a:gd name="adj" fmla="val 1664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10" name="targets-shot" descr="targets-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6858000" cy="4286250"/>
          </a:xfrm>
          <a:prstGeom prst="rect">
            <a:avLst/>
          </a:prstGeom>
        </p:spPr>
      </p:pic>
      <p:sp>
        <p:nvSpPr>
          <p:cNvPr id="11" name="targets-pt-0-badge"/>
          <p:cNvSpPr/>
          <p:nvPr/>
        </p:nvSpPr>
        <p:spPr>
          <a:xfrm>
            <a:off x="772668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argets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2269541"/>
            <a:ext cx="261518" cy="261518"/>
          </a:xfrm>
          <a:prstGeom prst="rect">
            <a:avLst/>
          </a:prstGeom>
        </p:spPr>
      </p:pic>
      <p:sp>
        <p:nvSpPr>
          <p:cNvPr id="13" name="targets-pt-0-title"/>
          <p:cNvSpPr txBox="1"/>
          <p:nvPr/>
        </p:nvSpPr>
        <p:spPr>
          <a:xfrm>
            <a:off x="8412480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Rule engine</a:t>
            </a:r>
            <a:endParaRPr lang="en-US" sz="1700" dirty="0"/>
          </a:p>
        </p:txBody>
      </p:sp>
      <p:sp>
        <p:nvSpPr>
          <p:cNvPr id="14" name="targets-pt-0-body"/>
          <p:cNvSpPr txBox="1"/>
          <p:nvPr/>
        </p:nvSpPr>
        <p:spPr>
          <a:xfrm>
            <a:off x="8412480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Target per category from two years of sales data and the CPCB rule in force.</a:t>
            </a:r>
            <a:endParaRPr lang="en-US" sz="1300" dirty="0"/>
          </a:p>
        </p:txBody>
      </p:sp>
      <p:sp>
        <p:nvSpPr>
          <p:cNvPr id="15" name="targets-pt-1-badge"/>
          <p:cNvSpPr/>
          <p:nvPr/>
        </p:nvSpPr>
        <p:spPr>
          <a:xfrm>
            <a:off x="7726680" y="3520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argets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3641141"/>
            <a:ext cx="261518" cy="261518"/>
          </a:xfrm>
          <a:prstGeom prst="rect">
            <a:avLst/>
          </a:prstGeom>
        </p:spPr>
      </p:pic>
      <p:sp>
        <p:nvSpPr>
          <p:cNvPr id="17" name="targets-pt-1-title"/>
          <p:cNvSpPr txBox="1"/>
          <p:nvPr/>
        </p:nvSpPr>
        <p:spPr>
          <a:xfrm>
            <a:off x="8412480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Live compliance score</a:t>
            </a:r>
            <a:endParaRPr lang="en-US" sz="1700" dirty="0"/>
          </a:p>
        </p:txBody>
      </p:sp>
      <p:sp>
        <p:nvSpPr>
          <p:cNvPr id="18" name="targets-pt-1-body"/>
          <p:cNvSpPr txBox="1"/>
          <p:nvPr/>
        </p:nvSpPr>
        <p:spPr>
          <a:xfrm>
            <a:off x="8412480" y="38862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Fulfilled, remaining, shortfall and Environmental Compensation risk in rupees.</a:t>
            </a:r>
            <a:endParaRPr lang="en-US" sz="1300" dirty="0"/>
          </a:p>
        </p:txBody>
      </p:sp>
      <p:sp>
        <p:nvSpPr>
          <p:cNvPr id="19" name="targets-pt-2-badge"/>
          <p:cNvSpPr/>
          <p:nvPr/>
        </p:nvSpPr>
        <p:spPr>
          <a:xfrm>
            <a:off x="7726680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argets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81" y="5012741"/>
            <a:ext cx="261518" cy="261518"/>
          </a:xfrm>
          <a:prstGeom prst="rect">
            <a:avLst/>
          </a:prstGeom>
        </p:spPr>
      </p:pic>
      <p:sp>
        <p:nvSpPr>
          <p:cNvPr id="21" name="targets-pt-2-title"/>
          <p:cNvSpPr txBox="1"/>
          <p:nvPr/>
        </p:nvSpPr>
        <p:spPr>
          <a:xfrm>
            <a:off x="8412480" y="4873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Early alerts</a:t>
            </a:r>
            <a:endParaRPr lang="en-US" sz="1700" dirty="0"/>
          </a:p>
        </p:txBody>
      </p:sp>
      <p:sp>
        <p:nvSpPr>
          <p:cNvPr id="22" name="targets-pt-2-body"/>
          <p:cNvSpPr txBox="1"/>
          <p:nvPr/>
        </p:nvSpPr>
        <p:spPr>
          <a:xfrm>
            <a:off x="8412480" y="5257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“36% behind on Category II with 6 months left” — checked every day.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reads certificates and invoices</a:t>
            </a:r>
            <a:endParaRPr lang="en-US" sz="3000" dirty="0"/>
          </a:p>
        </p:txBody>
      </p:sp>
      <p:sp>
        <p:nvSpPr>
          <p:cNvPr id="3" name="ai-kicker"/>
          <p:cNvSpPr/>
          <p:nvPr/>
        </p:nvSpPr>
        <p:spPr>
          <a:xfrm>
            <a:off x="548640" y="292608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ai-kicker-text"/>
          <p:cNvSpPr txBox="1"/>
          <p:nvPr/>
        </p:nvSpPr>
        <p:spPr>
          <a:xfrm>
            <a:off x="54864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SOLUTION</a:t>
            </a:r>
            <a:endParaRPr lang="en-US" sz="1100" dirty="0"/>
          </a:p>
        </p:txBody>
      </p:sp>
      <p:sp>
        <p:nvSpPr>
          <p:cNvPr id="5" name="ai-problem"/>
          <p:cNvSpPr/>
          <p:nvPr/>
        </p:nvSpPr>
        <p:spPr>
          <a:xfrm>
            <a:off x="548640" y="12801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BF0DC"/>
          </a:solidFill>
          <a:ln/>
        </p:spPr>
      </p:sp>
      <p:sp>
        <p:nvSpPr>
          <p:cNvPr id="6" name="ai-problem-badge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ai-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463772"/>
            <a:ext cx="199705" cy="199705"/>
          </a:xfrm>
          <a:prstGeom prst="rect">
            <a:avLst/>
          </a:prstGeom>
        </p:spPr>
      </p:pic>
      <p:sp>
        <p:nvSpPr>
          <p:cNvPr id="8" name="ai-problem-text"/>
          <p:cNvSpPr txBox="1"/>
          <p:nvPr/>
        </p:nvSpPr>
        <p:spPr>
          <a:xfrm>
            <a:off x="1234440" y="128016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certificate and invoice is re-typed by hand — slow, and a source of errors.</a:t>
            </a:r>
            <a:endParaRPr lang="en-US" sz="1500" dirty="0"/>
          </a:p>
        </p:txBody>
      </p:sp>
      <p:sp>
        <p:nvSpPr>
          <p:cNvPr id="9" name="ai-shot-frame"/>
          <p:cNvSpPr/>
          <p:nvPr/>
        </p:nvSpPr>
        <p:spPr>
          <a:xfrm>
            <a:off x="493776" y="2093976"/>
            <a:ext cx="6967728" cy="4395978"/>
          </a:xfrm>
          <a:prstGeom prst="roundRect">
            <a:avLst>
              <a:gd name="adj" fmla="val 1664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10" name="ai-shot" descr="ai-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6858000" cy="4286250"/>
          </a:xfrm>
          <a:prstGeom prst="rect">
            <a:avLst/>
          </a:prstGeom>
        </p:spPr>
      </p:pic>
      <p:sp>
        <p:nvSpPr>
          <p:cNvPr id="11" name="ai-pt-0-badge"/>
          <p:cNvSpPr/>
          <p:nvPr/>
        </p:nvSpPr>
        <p:spPr>
          <a:xfrm>
            <a:off x="772668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i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2269541"/>
            <a:ext cx="261518" cy="261518"/>
          </a:xfrm>
          <a:prstGeom prst="rect">
            <a:avLst/>
          </a:prstGeom>
        </p:spPr>
      </p:pic>
      <p:sp>
        <p:nvSpPr>
          <p:cNvPr id="13" name="ai-pt-0-title"/>
          <p:cNvSpPr txBox="1"/>
          <p:nvPr/>
        </p:nvSpPr>
        <p:spPr>
          <a:xfrm>
            <a:off x="8412480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Upload a PDF or photo</a:t>
            </a:r>
            <a:endParaRPr lang="en-US" sz="1700" dirty="0"/>
          </a:p>
        </p:txBody>
      </p:sp>
      <p:sp>
        <p:nvSpPr>
          <p:cNvPr id="14" name="ai-pt-0-body"/>
          <p:cNvSpPr txBox="1"/>
          <p:nvPr/>
        </p:nvSpPr>
        <p:spPr>
          <a:xfrm>
            <a:off x="8412480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extracts certificate number, recycler, category, quantity, dates — or every invoice line.</a:t>
            </a:r>
            <a:endParaRPr lang="en-US" sz="1300" dirty="0"/>
          </a:p>
        </p:txBody>
      </p:sp>
      <p:sp>
        <p:nvSpPr>
          <p:cNvPr id="15" name="ai-pt-1-badge"/>
          <p:cNvSpPr/>
          <p:nvPr/>
        </p:nvSpPr>
        <p:spPr>
          <a:xfrm>
            <a:off x="7726680" y="3520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ai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3641141"/>
            <a:ext cx="261518" cy="261518"/>
          </a:xfrm>
          <a:prstGeom prst="rect">
            <a:avLst/>
          </a:prstGeom>
        </p:spPr>
      </p:pic>
      <p:sp>
        <p:nvSpPr>
          <p:cNvPr id="17" name="ai-pt-1-title"/>
          <p:cNvSpPr txBox="1"/>
          <p:nvPr/>
        </p:nvSpPr>
        <p:spPr>
          <a:xfrm>
            <a:off x="8412480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Side-by-side review</a:t>
            </a:r>
            <a:endParaRPr lang="en-US" sz="1700" dirty="0"/>
          </a:p>
        </p:txBody>
      </p:sp>
      <p:sp>
        <p:nvSpPr>
          <p:cNvPr id="18" name="ai-pt-1-body"/>
          <p:cNvSpPr txBox="1"/>
          <p:nvPr/>
        </p:nvSpPr>
        <p:spPr>
          <a:xfrm>
            <a:off x="8412480" y="38862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 on the left, values on the right. Nothing is saved until a person approves.</a:t>
            </a:r>
            <a:endParaRPr lang="en-US" sz="1300" dirty="0"/>
          </a:p>
        </p:txBody>
      </p:sp>
      <p:sp>
        <p:nvSpPr>
          <p:cNvPr id="19" name="ai-pt-2-badge"/>
          <p:cNvSpPr/>
          <p:nvPr/>
        </p:nvSpPr>
        <p:spPr>
          <a:xfrm>
            <a:off x="7726680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i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81" y="5012741"/>
            <a:ext cx="261518" cy="261518"/>
          </a:xfrm>
          <a:prstGeom prst="rect">
            <a:avLst/>
          </a:prstGeom>
        </p:spPr>
      </p:pic>
      <p:sp>
        <p:nvSpPr>
          <p:cNvPr id="21" name="ai-pt-2-title"/>
          <p:cNvSpPr txBox="1"/>
          <p:nvPr/>
        </p:nvSpPr>
        <p:spPr>
          <a:xfrm>
            <a:off x="8412480" y="4873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Flags what to check</a:t>
            </a:r>
            <a:endParaRPr lang="en-US" sz="1700" dirty="0"/>
          </a:p>
        </p:txBody>
      </p:sp>
      <p:sp>
        <p:nvSpPr>
          <p:cNvPr id="22" name="ai-pt-2-body"/>
          <p:cNvSpPr txBox="1"/>
          <p:nvPr/>
        </p:nvSpPr>
        <p:spPr>
          <a:xfrm>
            <a:off x="8412480" y="5257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Low-confidence fields and hand-written corrections are highlighted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certificate is checked before it counts</a:t>
            </a:r>
            <a:endParaRPr lang="en-US" sz="3000" dirty="0"/>
          </a:p>
        </p:txBody>
      </p:sp>
      <p:sp>
        <p:nvSpPr>
          <p:cNvPr id="3" name="fraud-kicker"/>
          <p:cNvSpPr/>
          <p:nvPr/>
        </p:nvSpPr>
        <p:spPr>
          <a:xfrm>
            <a:off x="548640" y="292608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fraud-kicker-text"/>
          <p:cNvSpPr txBox="1"/>
          <p:nvPr/>
        </p:nvSpPr>
        <p:spPr>
          <a:xfrm>
            <a:off x="54864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SOLUTION</a:t>
            </a:r>
            <a:endParaRPr lang="en-US" sz="1100" dirty="0"/>
          </a:p>
        </p:txBody>
      </p:sp>
      <p:sp>
        <p:nvSpPr>
          <p:cNvPr id="5" name="fraud-problem"/>
          <p:cNvSpPr/>
          <p:nvPr/>
        </p:nvSpPr>
        <p:spPr>
          <a:xfrm>
            <a:off x="548640" y="12801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BF0DC"/>
          </a:solidFill>
          <a:ln/>
        </p:spPr>
      </p:sp>
      <p:sp>
        <p:nvSpPr>
          <p:cNvPr id="6" name="fraud-problem-badge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fraud-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463772"/>
            <a:ext cx="199705" cy="199705"/>
          </a:xfrm>
          <a:prstGeom prst="rect">
            <a:avLst/>
          </a:prstGeom>
        </p:spPr>
      </p:pic>
      <p:sp>
        <p:nvSpPr>
          <p:cNvPr id="8" name="fraud-problem-text"/>
          <p:cNvSpPr txBox="1"/>
          <p:nvPr/>
        </p:nvSpPr>
        <p:spPr>
          <a:xfrm>
            <a:off x="1234440" y="128016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same certificate can be sold twice, or come from an unverified recycler — and nobody checks.</a:t>
            </a:r>
            <a:endParaRPr lang="en-US" sz="1500" dirty="0"/>
          </a:p>
        </p:txBody>
      </p:sp>
      <p:sp>
        <p:nvSpPr>
          <p:cNvPr id="9" name="fraud-shot-frame"/>
          <p:cNvSpPr/>
          <p:nvPr/>
        </p:nvSpPr>
        <p:spPr>
          <a:xfrm>
            <a:off x="493776" y="2093976"/>
            <a:ext cx="6967728" cy="4395978"/>
          </a:xfrm>
          <a:prstGeom prst="roundRect">
            <a:avLst>
              <a:gd name="adj" fmla="val 1664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10" name="fraud-shot" descr="fraud-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6858000" cy="4286250"/>
          </a:xfrm>
          <a:prstGeom prst="rect">
            <a:avLst/>
          </a:prstGeom>
        </p:spPr>
      </p:pic>
      <p:sp>
        <p:nvSpPr>
          <p:cNvPr id="11" name="fraud-pt-0-badge"/>
          <p:cNvSpPr/>
          <p:nvPr/>
        </p:nvSpPr>
        <p:spPr>
          <a:xfrm>
            <a:off x="772668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raud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2269541"/>
            <a:ext cx="261518" cy="261518"/>
          </a:xfrm>
          <a:prstGeom prst="rect">
            <a:avLst/>
          </a:prstGeom>
        </p:spPr>
      </p:pic>
      <p:sp>
        <p:nvSpPr>
          <p:cNvPr id="13" name="fraud-pt-0-title"/>
          <p:cNvSpPr txBox="1"/>
          <p:nvPr/>
        </p:nvSpPr>
        <p:spPr>
          <a:xfrm>
            <a:off x="8412480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Duplicate detection</a:t>
            </a:r>
            <a:endParaRPr lang="en-US" sz="1700" dirty="0"/>
          </a:p>
        </p:txBody>
      </p:sp>
      <p:sp>
        <p:nvSpPr>
          <p:cNvPr id="14" name="fraud-pt-0-body"/>
          <p:cNvSpPr txBox="1"/>
          <p:nvPr/>
        </p:nvSpPr>
        <p:spPr>
          <a:xfrm>
            <a:off x="8412480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Within the company and across all EPRFlow customers — without revealing who.</a:t>
            </a:r>
            <a:endParaRPr lang="en-US" sz="1300" dirty="0"/>
          </a:p>
        </p:txBody>
      </p:sp>
      <p:sp>
        <p:nvSpPr>
          <p:cNvPr id="15" name="fraud-pt-1-badge"/>
          <p:cNvSpPr/>
          <p:nvPr/>
        </p:nvSpPr>
        <p:spPr>
          <a:xfrm>
            <a:off x="7726680" y="3520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raud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3641141"/>
            <a:ext cx="261518" cy="261518"/>
          </a:xfrm>
          <a:prstGeom prst="rect">
            <a:avLst/>
          </a:prstGeom>
        </p:spPr>
      </p:pic>
      <p:sp>
        <p:nvSpPr>
          <p:cNvPr id="17" name="fraud-pt-1-title"/>
          <p:cNvSpPr txBox="1"/>
          <p:nvPr/>
        </p:nvSpPr>
        <p:spPr>
          <a:xfrm>
            <a:off x="8412480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Recycler and capacity</a:t>
            </a:r>
            <a:endParaRPr lang="en-US" sz="1700" dirty="0"/>
          </a:p>
        </p:txBody>
      </p:sp>
      <p:sp>
        <p:nvSpPr>
          <p:cNvPr id="18" name="fraud-pt-1-body"/>
          <p:cNvSpPr txBox="1"/>
          <p:nvPr/>
        </p:nvSpPr>
        <p:spPr>
          <a:xfrm>
            <a:off x="8412480" y="38862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Unverified or expired recyclers, and volumes beyond a recycler's capacity.</a:t>
            </a:r>
            <a:endParaRPr lang="en-US" sz="1300" dirty="0"/>
          </a:p>
        </p:txBody>
      </p:sp>
      <p:sp>
        <p:nvSpPr>
          <p:cNvPr id="19" name="fraud-pt-2-badge"/>
          <p:cNvSpPr/>
          <p:nvPr/>
        </p:nvSpPr>
        <p:spPr>
          <a:xfrm>
            <a:off x="7726680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raud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81" y="5012741"/>
            <a:ext cx="261518" cy="261518"/>
          </a:xfrm>
          <a:prstGeom prst="rect">
            <a:avLst/>
          </a:prstGeom>
        </p:spPr>
      </p:pic>
      <p:sp>
        <p:nvSpPr>
          <p:cNvPr id="21" name="fraud-pt-2-title"/>
          <p:cNvSpPr txBox="1"/>
          <p:nvPr/>
        </p:nvSpPr>
        <p:spPr>
          <a:xfrm>
            <a:off x="8412480" y="4873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Approval blocked</a:t>
            </a:r>
            <a:endParaRPr lang="en-US" sz="1700" dirty="0"/>
          </a:p>
        </p:txBody>
      </p:sp>
      <p:sp>
        <p:nvSpPr>
          <p:cNvPr id="22" name="fraud-pt-2-body"/>
          <p:cNvSpPr txBox="1"/>
          <p:nvPr/>
        </p:nvSpPr>
        <p:spPr>
          <a:xfrm>
            <a:off x="8412480" y="5257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High-severity flags must be resolved before a certificate counts towards targets.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CPCB-ready reports and no missed deadlines</a:t>
            </a:r>
            <a:endParaRPr lang="en-US" sz="3000" dirty="0"/>
          </a:p>
        </p:txBody>
      </p:sp>
      <p:sp>
        <p:nvSpPr>
          <p:cNvPr id="3" name="rep-kicker"/>
          <p:cNvSpPr/>
          <p:nvPr/>
        </p:nvSpPr>
        <p:spPr>
          <a:xfrm>
            <a:off x="548640" y="292608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rep-kicker-text"/>
          <p:cNvSpPr txBox="1"/>
          <p:nvPr/>
        </p:nvSpPr>
        <p:spPr>
          <a:xfrm>
            <a:off x="54864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SOLUTION</a:t>
            </a:r>
            <a:endParaRPr lang="en-US" sz="1100" dirty="0"/>
          </a:p>
        </p:txBody>
      </p:sp>
      <p:sp>
        <p:nvSpPr>
          <p:cNvPr id="5" name="rep-problem"/>
          <p:cNvSpPr/>
          <p:nvPr/>
        </p:nvSpPr>
        <p:spPr>
          <a:xfrm>
            <a:off x="548640" y="12801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BF0DC"/>
          </a:solidFill>
          <a:ln/>
        </p:spPr>
      </p:sp>
      <p:sp>
        <p:nvSpPr>
          <p:cNvPr id="6" name="rep-problem-badge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rep-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463772"/>
            <a:ext cx="199705" cy="199705"/>
          </a:xfrm>
          <a:prstGeom prst="rect">
            <a:avLst/>
          </a:prstGeom>
        </p:spPr>
      </p:pic>
      <p:sp>
        <p:nvSpPr>
          <p:cNvPr id="8" name="rep-problem-text"/>
          <p:cNvSpPr txBox="1"/>
          <p:nvPr/>
        </p:nvSpPr>
        <p:spPr>
          <a:xfrm>
            <a:off x="1234440" y="128016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returns are assembled by hand at the last minute, and filing dates are tracked in inboxes.</a:t>
            </a:r>
            <a:endParaRPr lang="en-US" sz="1500" dirty="0"/>
          </a:p>
        </p:txBody>
      </p:sp>
      <p:sp>
        <p:nvSpPr>
          <p:cNvPr id="9" name="shot-reports-frame"/>
          <p:cNvSpPr/>
          <p:nvPr/>
        </p:nvSpPr>
        <p:spPr>
          <a:xfrm>
            <a:off x="493776" y="2093976"/>
            <a:ext cx="5504688" cy="3481578"/>
          </a:xfrm>
          <a:prstGeom prst="roundRect">
            <a:avLst>
              <a:gd name="adj" fmla="val 2101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10" name="shot-reports" descr="shot-rep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5394960" cy="3371850"/>
          </a:xfrm>
          <a:prstGeom prst="rect">
            <a:avLst/>
          </a:prstGeom>
        </p:spPr>
      </p:pic>
      <p:sp>
        <p:nvSpPr>
          <p:cNvPr id="11" name="shot-calendar-frame"/>
          <p:cNvSpPr/>
          <p:nvPr/>
        </p:nvSpPr>
        <p:spPr>
          <a:xfrm>
            <a:off x="6193231" y="2093976"/>
            <a:ext cx="5504688" cy="3481578"/>
          </a:xfrm>
          <a:prstGeom prst="roundRect">
            <a:avLst>
              <a:gd name="adj" fmla="val 2101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12" name="shot-calendar" descr="shot-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2148840"/>
            <a:ext cx="5394960" cy="3371850"/>
          </a:xfrm>
          <a:prstGeom prst="rect">
            <a:avLst/>
          </a:prstGeom>
        </p:spPr>
      </p:pic>
      <p:sp>
        <p:nvSpPr>
          <p:cNvPr id="13" name="reports-caption"/>
          <p:cNvSpPr txBox="1"/>
          <p:nvPr/>
        </p:nvSpPr>
        <p:spPr>
          <a:xfrm>
            <a:off x="548640" y="574929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One-click reports.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CPCB annual return, obligation summary and registers in Excel or PDF.</a:t>
            </a:r>
            <a:endParaRPr lang="en-US" sz="1400" dirty="0"/>
          </a:p>
        </p:txBody>
      </p:sp>
      <p:sp>
        <p:nvSpPr>
          <p:cNvPr id="14" name="calendar-caption"/>
          <p:cNvSpPr txBox="1"/>
          <p:nvPr/>
        </p:nvSpPr>
        <p:spPr>
          <a:xfrm>
            <a:off x="6248095" y="574929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Compliance calendar.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statutory date, with email reminders 30, 7 and 1 day before.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Consultants see every client on one screen</a:t>
            </a:r>
            <a:endParaRPr lang="en-US" sz="3000" dirty="0"/>
          </a:p>
        </p:txBody>
      </p:sp>
      <p:sp>
        <p:nvSpPr>
          <p:cNvPr id="3" name="cons-kicker"/>
          <p:cNvSpPr/>
          <p:nvPr/>
        </p:nvSpPr>
        <p:spPr>
          <a:xfrm>
            <a:off x="548640" y="292608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ons-kicker-text"/>
          <p:cNvSpPr txBox="1"/>
          <p:nvPr/>
        </p:nvSpPr>
        <p:spPr>
          <a:xfrm>
            <a:off x="54864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SOLUTION</a:t>
            </a:r>
            <a:endParaRPr lang="en-US" sz="1100" dirty="0"/>
          </a:p>
        </p:txBody>
      </p:sp>
      <p:sp>
        <p:nvSpPr>
          <p:cNvPr id="5" name="cons-problem"/>
          <p:cNvSpPr/>
          <p:nvPr/>
        </p:nvSpPr>
        <p:spPr>
          <a:xfrm>
            <a:off x="548640" y="12801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BF0DC"/>
          </a:solidFill>
          <a:ln/>
        </p:spPr>
      </p:sp>
      <p:sp>
        <p:nvSpPr>
          <p:cNvPr id="6" name="cons-problem-badge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cons-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463772"/>
            <a:ext cx="199705" cy="199705"/>
          </a:xfrm>
          <a:prstGeom prst="rect">
            <a:avLst/>
          </a:prstGeom>
        </p:spPr>
      </p:pic>
      <p:sp>
        <p:nvSpPr>
          <p:cNvPr id="8" name="cons-problem-text"/>
          <p:cNvSpPr txBox="1"/>
          <p:nvPr/>
        </p:nvSpPr>
        <p:spPr>
          <a:xfrm>
            <a:off x="1234440" y="128016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EPR consultants juggle dozens of clients in separate spreadsheets and folders.</a:t>
            </a:r>
            <a:endParaRPr lang="en-US" sz="1500" dirty="0"/>
          </a:p>
        </p:txBody>
      </p:sp>
      <p:sp>
        <p:nvSpPr>
          <p:cNvPr id="9" name="cons-shot-frame"/>
          <p:cNvSpPr/>
          <p:nvPr/>
        </p:nvSpPr>
        <p:spPr>
          <a:xfrm>
            <a:off x="493776" y="2093976"/>
            <a:ext cx="6967728" cy="2767203"/>
          </a:xfrm>
          <a:prstGeom prst="roundRect">
            <a:avLst>
              <a:gd name="adj" fmla="val 2644"/>
            </a:avLst>
          </a:prstGeom>
          <a:solidFill>
            <a:srgbClr val="DCE8E0"/>
          </a:solidFill>
          <a:ln/>
          <a:effectLst>
            <a:outerShdw sx="100000" sy="100000" kx="0" ky="0" algn="bl" rotWithShape="0" blurRad="152400" dist="38100" dir="5400000">
              <a:srgbClr val="0E3B23">
                <a:alpha val="18000"/>
              </a:srgbClr>
            </a:outerShdw>
          </a:effectLst>
        </p:spPr>
      </p:sp>
      <p:pic>
        <p:nvPicPr>
          <p:cNvPr id="10" name="cons-shot" descr="cons-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6858000" cy="2657475"/>
          </a:xfrm>
          <a:prstGeom prst="rect">
            <a:avLst/>
          </a:prstGeom>
        </p:spPr>
      </p:pic>
      <p:sp>
        <p:nvSpPr>
          <p:cNvPr id="11" name="cons-pt-0-badge"/>
          <p:cNvSpPr/>
          <p:nvPr/>
        </p:nvSpPr>
        <p:spPr>
          <a:xfrm>
            <a:off x="772668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ons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2269541"/>
            <a:ext cx="261518" cy="261518"/>
          </a:xfrm>
          <a:prstGeom prst="rect">
            <a:avLst/>
          </a:prstGeom>
        </p:spPr>
      </p:pic>
      <p:sp>
        <p:nvSpPr>
          <p:cNvPr id="13" name="cons-pt-0-title"/>
          <p:cNvSpPr txBox="1"/>
          <p:nvPr/>
        </p:nvSpPr>
        <p:spPr>
          <a:xfrm>
            <a:off x="8412480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All clients overview</a:t>
            </a:r>
            <a:endParaRPr lang="en-US" sz="1700" dirty="0"/>
          </a:p>
        </p:txBody>
      </p:sp>
      <p:sp>
        <p:nvSpPr>
          <p:cNvPr id="14" name="cons-pt-0-body"/>
          <p:cNvSpPr txBox="1"/>
          <p:nvPr/>
        </p:nvSpPr>
        <p:spPr>
          <a:xfrm>
            <a:off x="8412480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Score, EC risk, open alerts and the next deadline for every client — riskiest first.</a:t>
            </a:r>
            <a:endParaRPr lang="en-US" sz="1300" dirty="0"/>
          </a:p>
        </p:txBody>
      </p:sp>
      <p:sp>
        <p:nvSpPr>
          <p:cNvPr id="15" name="cons-pt-1-badge"/>
          <p:cNvSpPr/>
          <p:nvPr/>
        </p:nvSpPr>
        <p:spPr>
          <a:xfrm>
            <a:off x="7726680" y="3520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ons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3641141"/>
            <a:ext cx="261518" cy="261518"/>
          </a:xfrm>
          <a:prstGeom prst="rect">
            <a:avLst/>
          </a:prstGeom>
        </p:spPr>
      </p:pic>
      <p:sp>
        <p:nvSpPr>
          <p:cNvPr id="17" name="cons-pt-1-title"/>
          <p:cNvSpPr txBox="1"/>
          <p:nvPr/>
        </p:nvSpPr>
        <p:spPr>
          <a:xfrm>
            <a:off x="8412480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login</a:t>
            </a:r>
            <a:endParaRPr lang="en-US" sz="1700" dirty="0"/>
          </a:p>
        </p:txBody>
      </p:sp>
      <p:sp>
        <p:nvSpPr>
          <p:cNvPr id="18" name="cons-pt-1-body"/>
          <p:cNvSpPr txBox="1"/>
          <p:nvPr/>
        </p:nvSpPr>
        <p:spPr>
          <a:xfrm>
            <a:off x="8412480" y="38862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Switch between client companies from the sidebar.</a:t>
            </a:r>
            <a:endParaRPr lang="en-US" sz="1300" dirty="0"/>
          </a:p>
        </p:txBody>
      </p:sp>
      <p:sp>
        <p:nvSpPr>
          <p:cNvPr id="19" name="cons-pt-2-badge"/>
          <p:cNvSpPr/>
          <p:nvPr/>
        </p:nvSpPr>
        <p:spPr>
          <a:xfrm>
            <a:off x="7726680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ons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81" y="5012741"/>
            <a:ext cx="261518" cy="261518"/>
          </a:xfrm>
          <a:prstGeom prst="rect">
            <a:avLst/>
          </a:prstGeom>
        </p:spPr>
      </p:pic>
      <p:sp>
        <p:nvSpPr>
          <p:cNvPr id="21" name="cons-pt-2-title"/>
          <p:cNvSpPr txBox="1"/>
          <p:nvPr/>
        </p:nvSpPr>
        <p:spPr>
          <a:xfrm>
            <a:off x="8412480" y="4873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Strict isolation</a:t>
            </a:r>
            <a:endParaRPr lang="en-US" sz="1700" dirty="0"/>
          </a:p>
        </p:txBody>
      </p:sp>
      <p:sp>
        <p:nvSpPr>
          <p:cNvPr id="22" name="cons-pt-2-body"/>
          <p:cNvSpPr txBox="1"/>
          <p:nvPr/>
        </p:nvSpPr>
        <p:spPr>
          <a:xfrm>
            <a:off x="8412480" y="5257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client's data is separated at the database layer.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it works: the whole EPR cycle in one flow</a:t>
            </a:r>
            <a:endParaRPr lang="en-US" sz="3000" dirty="0"/>
          </a:p>
        </p:txBody>
      </p:sp>
      <p:sp>
        <p:nvSpPr>
          <p:cNvPr id="3" name="step-0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step-0-badge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50085"/>
            <a:ext cx="380390" cy="380390"/>
          </a:xfrm>
          <a:prstGeom prst="rect">
            <a:avLst/>
          </a:prstGeom>
        </p:spPr>
      </p:pic>
      <p:sp>
        <p:nvSpPr>
          <p:cNvPr id="6" name="step-0-title"/>
          <p:cNvSpPr txBox="1"/>
          <p:nvPr/>
        </p:nvSpPr>
        <p:spPr>
          <a:xfrm>
            <a:off x="82296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1. Bring in data</a:t>
            </a:r>
            <a:endParaRPr lang="en-US" sz="1900" dirty="0"/>
          </a:p>
        </p:txBody>
      </p:sp>
      <p:sp>
        <p:nvSpPr>
          <p:cNvPr id="7" name="step-0-body"/>
          <p:cNvSpPr txBox="1"/>
          <p:nvPr/>
        </p:nvSpPr>
        <p:spPr>
          <a:xfrm>
            <a:off x="822960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Excel / CSV import with row-by-row validation, or AI-read invoices.</a:t>
            </a:r>
            <a:endParaRPr lang="en-US" sz="1400" dirty="0"/>
          </a:p>
        </p:txBody>
      </p:sp>
      <p:pic>
        <p:nvPicPr>
          <p:cNvPr id="8" name="step-0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926080"/>
            <a:ext cx="228600" cy="228600"/>
          </a:xfrm>
          <a:prstGeom prst="rect">
            <a:avLst/>
          </a:prstGeom>
        </p:spPr>
      </p:pic>
      <p:sp>
        <p:nvSpPr>
          <p:cNvPr id="9" name="step-1"/>
          <p:cNvSpPr/>
          <p:nvPr/>
        </p:nvSpPr>
        <p:spPr>
          <a:xfrm>
            <a:off x="3401568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step-1-badge"/>
          <p:cNvSpPr/>
          <p:nvPr/>
        </p:nvSpPr>
        <p:spPr>
          <a:xfrm>
            <a:off x="3675888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53" y="2050085"/>
            <a:ext cx="380390" cy="380390"/>
          </a:xfrm>
          <a:prstGeom prst="rect">
            <a:avLst/>
          </a:prstGeom>
        </p:spPr>
      </p:pic>
      <p:sp>
        <p:nvSpPr>
          <p:cNvPr id="12" name="step-1-title"/>
          <p:cNvSpPr txBox="1"/>
          <p:nvPr/>
        </p:nvSpPr>
        <p:spPr>
          <a:xfrm>
            <a:off x="3675888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 See the target</a:t>
            </a:r>
            <a:endParaRPr lang="en-US" sz="1900" dirty="0"/>
          </a:p>
        </p:txBody>
      </p:sp>
      <p:sp>
        <p:nvSpPr>
          <p:cNvPr id="13" name="step-1-body"/>
          <p:cNvSpPr txBox="1"/>
          <p:nvPr/>
        </p:nvSpPr>
        <p:spPr>
          <a:xfrm>
            <a:off x="3675888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Obligation, shortfall and EC risk per category and state.</a:t>
            </a:r>
            <a:endParaRPr lang="en-US" sz="1400" dirty="0"/>
          </a:p>
        </p:txBody>
      </p:sp>
      <p:pic>
        <p:nvPicPr>
          <p:cNvPr id="14" name="step-1-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926080"/>
            <a:ext cx="228600" cy="228600"/>
          </a:xfrm>
          <a:prstGeom prst="rect">
            <a:avLst/>
          </a:prstGeom>
        </p:spPr>
      </p:pic>
      <p:sp>
        <p:nvSpPr>
          <p:cNvPr id="15" name="step-2"/>
          <p:cNvSpPr/>
          <p:nvPr/>
        </p:nvSpPr>
        <p:spPr>
          <a:xfrm>
            <a:off x="6254496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step-2-badge"/>
          <p:cNvSpPr/>
          <p:nvPr/>
        </p:nvSpPr>
        <p:spPr>
          <a:xfrm>
            <a:off x="6528816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381" y="2050085"/>
            <a:ext cx="380390" cy="380390"/>
          </a:xfrm>
          <a:prstGeom prst="rect">
            <a:avLst/>
          </a:prstGeom>
        </p:spPr>
      </p:pic>
      <p:sp>
        <p:nvSpPr>
          <p:cNvPr id="18" name="step-2-title"/>
          <p:cNvSpPr txBox="1"/>
          <p:nvPr/>
        </p:nvSpPr>
        <p:spPr>
          <a:xfrm>
            <a:off x="6528816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3. Buy safely</a:t>
            </a:r>
            <a:endParaRPr lang="en-US" sz="1900" dirty="0"/>
          </a:p>
        </p:txBody>
      </p:sp>
      <p:sp>
        <p:nvSpPr>
          <p:cNvPr id="19" name="step-2-body"/>
          <p:cNvSpPr txBox="1"/>
          <p:nvPr/>
        </p:nvSpPr>
        <p:spPr>
          <a:xfrm>
            <a:off x="6528816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Certificates checked for fraud; admins approve; budget tracked.</a:t>
            </a:r>
            <a:endParaRPr lang="en-US" sz="1400" dirty="0"/>
          </a:p>
        </p:txBody>
      </p:sp>
      <p:pic>
        <p:nvPicPr>
          <p:cNvPr id="20" name="step-2-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926080"/>
            <a:ext cx="228600" cy="228600"/>
          </a:xfrm>
          <a:prstGeom prst="rect">
            <a:avLst/>
          </a:prstGeom>
        </p:spPr>
      </p:pic>
      <p:sp>
        <p:nvSpPr>
          <p:cNvPr id="21" name="step-3"/>
          <p:cNvSpPr/>
          <p:nvPr/>
        </p:nvSpPr>
        <p:spPr>
          <a:xfrm>
            <a:off x="9107424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step-3-badge"/>
          <p:cNvSpPr/>
          <p:nvPr/>
        </p:nvSpPr>
        <p:spPr>
          <a:xfrm>
            <a:off x="9381744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ep-3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7309" y="2050085"/>
            <a:ext cx="380390" cy="380390"/>
          </a:xfrm>
          <a:prstGeom prst="rect">
            <a:avLst/>
          </a:prstGeom>
        </p:spPr>
      </p:pic>
      <p:sp>
        <p:nvSpPr>
          <p:cNvPr id="24" name="step-3-title"/>
          <p:cNvSpPr txBox="1"/>
          <p:nvPr/>
        </p:nvSpPr>
        <p:spPr>
          <a:xfrm>
            <a:off x="9381744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4. File on time</a:t>
            </a:r>
            <a:endParaRPr lang="en-US" sz="1900" dirty="0"/>
          </a:p>
        </p:txBody>
      </p:sp>
      <p:sp>
        <p:nvSpPr>
          <p:cNvPr id="25" name="step-3-body"/>
          <p:cNvSpPr txBox="1"/>
          <p:nvPr/>
        </p:nvSpPr>
        <p:spPr>
          <a:xfrm>
            <a:off x="9381744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Calendar reminders and a CPCB-format return in one click.</a:t>
            </a:r>
            <a:endParaRPr lang="en-US" sz="1400" dirty="0"/>
          </a:p>
        </p:txBody>
      </p:sp>
      <p:sp>
        <p:nvSpPr>
          <p:cNvPr id="26" name="trust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7" name="trust-badge"/>
          <p:cNvSpPr/>
          <p:nvPr/>
        </p:nvSpPr>
        <p:spPr>
          <a:xfrm>
            <a:off x="822960" y="5120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trust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25" y="5296205"/>
            <a:ext cx="380390" cy="380390"/>
          </a:xfrm>
          <a:prstGeom prst="rect">
            <a:avLst/>
          </a:prstGeom>
        </p:spPr>
      </p:pic>
      <p:sp>
        <p:nvSpPr>
          <p:cNvPr id="29" name="trust-text"/>
          <p:cNvSpPr txBox="1"/>
          <p:nvPr/>
        </p:nvSpPr>
        <p:spPr>
          <a:xfrm>
            <a:off x="1783080" y="4983480"/>
            <a:ext cx="9585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Built to be trusted with compliance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Four enforced roles · complete audit log · tenant isolation on every query · rate-limited sign-in · encrypted sessions · hosted on Vercel + Neon Postgres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Simple annual subscriptions</a:t>
            </a:r>
            <a:endParaRPr lang="en-US" sz="3000" dirty="0"/>
          </a:p>
        </p:txBody>
      </p:sp>
      <p:sp>
        <p:nvSpPr>
          <p:cNvPr id="3" name="tier-0"/>
          <p:cNvSpPr/>
          <p:nvPr/>
        </p:nvSpPr>
        <p:spPr>
          <a:xfrm>
            <a:off x="548640" y="1417320"/>
            <a:ext cx="3511296" cy="365760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4" name="tier-0-name"/>
          <p:cNvSpPr txBox="1"/>
          <p:nvPr/>
        </p:nvSpPr>
        <p:spPr>
          <a:xfrm>
            <a:off x="868680" y="169164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Starter</a:t>
            </a:r>
            <a:endParaRPr lang="en-US" sz="2400" dirty="0"/>
          </a:p>
        </p:txBody>
      </p:sp>
      <p:sp>
        <p:nvSpPr>
          <p:cNvPr id="5" name="tier-0-price"/>
          <p:cNvSpPr txBox="1"/>
          <p:nvPr/>
        </p:nvSpPr>
        <p:spPr>
          <a:xfrm>
            <a:off x="868680" y="21945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₹24,000 / year</a:t>
            </a:r>
            <a:endParaRPr lang="en-US" sz="2200" dirty="0"/>
          </a:p>
        </p:txBody>
      </p:sp>
      <p:sp>
        <p:nvSpPr>
          <p:cNvPr id="6" name="tier-0-who"/>
          <p:cNvSpPr txBox="1"/>
          <p:nvPr/>
        </p:nvSpPr>
        <p:spPr>
          <a:xfrm>
            <a:off x="868680" y="274320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Single brand owner getting off spreadsheets</a:t>
            </a:r>
            <a:endParaRPr lang="en-US" sz="1400" dirty="0"/>
          </a:p>
        </p:txBody>
      </p:sp>
      <p:sp>
        <p:nvSpPr>
          <p:cNvPr id="7" name="tier-0-features"/>
          <p:cNvSpPr txBox="1"/>
          <p:nvPr/>
        </p:nvSpPr>
        <p:spPr>
          <a:xfrm>
            <a:off x="868680" y="3520440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Plastic packaging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Automatic targets &amp; EC risk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Calendar &amp; CPCB return</a:t>
            </a:r>
            <a:endParaRPr lang="en-US" sz="1500" dirty="0"/>
          </a:p>
        </p:txBody>
      </p:sp>
      <p:sp>
        <p:nvSpPr>
          <p:cNvPr id="8" name="tier-1"/>
          <p:cNvSpPr/>
          <p:nvPr/>
        </p:nvSpPr>
        <p:spPr>
          <a:xfrm>
            <a:off x="4334256" y="1417320"/>
            <a:ext cx="3511296" cy="365760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sp>
        <p:nvSpPr>
          <p:cNvPr id="9" name="tier-1-name"/>
          <p:cNvSpPr txBox="1"/>
          <p:nvPr/>
        </p:nvSpPr>
        <p:spPr>
          <a:xfrm>
            <a:off x="4654296" y="169164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Growth</a:t>
            </a:r>
            <a:endParaRPr lang="en-US" sz="2400" dirty="0"/>
          </a:p>
        </p:txBody>
      </p:sp>
      <p:sp>
        <p:nvSpPr>
          <p:cNvPr id="10" name="tier-1-price"/>
          <p:cNvSpPr txBox="1"/>
          <p:nvPr/>
        </p:nvSpPr>
        <p:spPr>
          <a:xfrm>
            <a:off x="4654296" y="21945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₹72,000 / year</a:t>
            </a:r>
            <a:endParaRPr lang="en-US" sz="2200" dirty="0"/>
          </a:p>
        </p:txBody>
      </p:sp>
      <p:sp>
        <p:nvSpPr>
          <p:cNvPr id="11" name="tier-1-who"/>
          <p:cNvSpPr txBox="1"/>
          <p:nvPr/>
        </p:nvSpPr>
        <p:spPr>
          <a:xfrm>
            <a:off x="4654296" y="274320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Multi-state producers buying certificates every quarter</a:t>
            </a:r>
            <a:endParaRPr lang="en-US" sz="1400" dirty="0"/>
          </a:p>
        </p:txBody>
      </p:sp>
      <p:sp>
        <p:nvSpPr>
          <p:cNvPr id="12" name="tier-1-features"/>
          <p:cNvSpPr txBox="1"/>
          <p:nvPr/>
        </p:nvSpPr>
        <p:spPr>
          <a:xfrm>
            <a:off x="4654296" y="3520440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Plastic, e-waste &amp; battery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Fraud checks &amp; AI extraction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Budgets, registers, audit export</a:t>
            </a:r>
            <a:endParaRPr lang="en-US" sz="1500" dirty="0"/>
          </a:p>
        </p:txBody>
      </p:sp>
      <p:sp>
        <p:nvSpPr>
          <p:cNvPr id="13" name="tier-2"/>
          <p:cNvSpPr/>
          <p:nvPr/>
        </p:nvSpPr>
        <p:spPr>
          <a:xfrm>
            <a:off x="8119872" y="1417320"/>
            <a:ext cx="3511296" cy="365760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4" name="tier-2-name"/>
          <p:cNvSpPr txBox="1"/>
          <p:nvPr/>
        </p:nvSpPr>
        <p:spPr>
          <a:xfrm>
            <a:off x="8439912" y="169164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Enterprise</a:t>
            </a:r>
            <a:endParaRPr lang="en-US" sz="2400" dirty="0"/>
          </a:p>
        </p:txBody>
      </p:sp>
      <p:sp>
        <p:nvSpPr>
          <p:cNvPr id="15" name="tier-2-price"/>
          <p:cNvSpPr txBox="1"/>
          <p:nvPr/>
        </p:nvSpPr>
        <p:spPr>
          <a:xfrm>
            <a:off x="8439912" y="21945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Custom</a:t>
            </a:r>
            <a:endParaRPr lang="en-US" sz="2200" dirty="0"/>
          </a:p>
        </p:txBody>
      </p:sp>
      <p:sp>
        <p:nvSpPr>
          <p:cNvPr id="16" name="tier-2-who"/>
          <p:cNvSpPr txBox="1"/>
          <p:nvPr/>
        </p:nvSpPr>
        <p:spPr>
          <a:xfrm>
            <a:off x="8439912" y="274320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Groups and EPR consultants with many companies</a:t>
            </a:r>
            <a:endParaRPr lang="en-US" sz="1400" dirty="0"/>
          </a:p>
        </p:txBody>
      </p:sp>
      <p:sp>
        <p:nvSpPr>
          <p:cNvPr id="17" name="tier-2-features"/>
          <p:cNvSpPr txBox="1"/>
          <p:nvPr/>
        </p:nvSpPr>
        <p:spPr>
          <a:xfrm>
            <a:off x="8439912" y="3520440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Consultant multi-client 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Unlimited members &amp; AI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Onboarding &amp; priority support</a:t>
            </a:r>
            <a:endParaRPr lang="en-US" sz="1500" dirty="0"/>
          </a:p>
        </p:txBody>
      </p:sp>
      <p:sp>
        <p:nvSpPr>
          <p:cNvPr id="18" name="roi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BF0DC"/>
          </a:solidFill>
          <a:ln/>
        </p:spPr>
      </p:sp>
      <p:sp>
        <p:nvSpPr>
          <p:cNvPr id="19" name="roi-badge"/>
          <p:cNvSpPr/>
          <p:nvPr/>
        </p:nvSpPr>
        <p:spPr>
          <a:xfrm>
            <a:off x="731520" y="54132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roi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5544922"/>
            <a:ext cx="285293" cy="285293"/>
          </a:xfrm>
          <a:prstGeom prst="rect">
            <a:avLst/>
          </a:prstGeom>
        </p:spPr>
      </p:pic>
      <p:sp>
        <p:nvSpPr>
          <p:cNvPr id="21" name="roi-text"/>
          <p:cNvSpPr txBox="1"/>
          <p:nvPr/>
        </p:nvSpPr>
        <p:spPr>
          <a:xfrm>
            <a:off x="1463040" y="530352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Pays for itself: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avoided Environmental Compensation penalty or one rejected fake certificate covers years of subscription. Prices are indicative.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Built and working today</a:t>
            </a:r>
            <a:endParaRPr lang="en-US" sz="3000" dirty="0"/>
          </a:p>
        </p:txBody>
      </p:sp>
      <p:sp>
        <p:nvSpPr>
          <p:cNvPr id="3" name="stat-0"/>
          <p:cNvSpPr txBox="1"/>
          <p:nvPr/>
        </p:nvSpPr>
        <p:spPr>
          <a:xfrm>
            <a:off x="548640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 / 7</a:t>
            </a:r>
            <a:endParaRPr lang="en-US" sz="5400" dirty="0"/>
          </a:p>
        </p:txBody>
      </p:sp>
      <p:sp>
        <p:nvSpPr>
          <p:cNvPr id="4" name="stat-0-label"/>
          <p:cNvSpPr txBox="1"/>
          <p:nvPr/>
        </p:nvSpPr>
        <p:spPr>
          <a:xfrm>
            <a:off x="54864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product phases complete</a:t>
            </a:r>
            <a:endParaRPr lang="en-US" sz="1600" dirty="0"/>
          </a:p>
        </p:txBody>
      </p:sp>
      <p:sp>
        <p:nvSpPr>
          <p:cNvPr id="5" name="stat-1"/>
          <p:cNvSpPr txBox="1"/>
          <p:nvPr/>
        </p:nvSpPr>
        <p:spPr>
          <a:xfrm>
            <a:off x="4334256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6" name="stat-1-label"/>
          <p:cNvSpPr txBox="1"/>
          <p:nvPr/>
        </p:nvSpPr>
        <p:spPr>
          <a:xfrm>
            <a:off x="4334256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waste streams: plastic, e-waste, battery</a:t>
            </a:r>
            <a:endParaRPr lang="en-US" sz="1600" dirty="0"/>
          </a:p>
        </p:txBody>
      </p:sp>
      <p:sp>
        <p:nvSpPr>
          <p:cNvPr id="7" name="stat-2"/>
          <p:cNvSpPr txBox="1"/>
          <p:nvPr/>
        </p:nvSpPr>
        <p:spPr>
          <a:xfrm>
            <a:off x="8119872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190+</a:t>
            </a:r>
            <a:endParaRPr lang="en-US" sz="5400" dirty="0"/>
          </a:p>
        </p:txBody>
      </p:sp>
      <p:sp>
        <p:nvSpPr>
          <p:cNvPr id="8" name="stat-2-label"/>
          <p:cNvSpPr txBox="1"/>
          <p:nvPr/>
        </p:nvSpPr>
        <p:spPr>
          <a:xfrm>
            <a:off x="8119872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automated unit and browser tests</a:t>
            </a:r>
            <a:endParaRPr lang="en-US" sz="1600" dirty="0"/>
          </a:p>
        </p:txBody>
      </p:sp>
      <p:sp>
        <p:nvSpPr>
          <p:cNvPr id="9" name="done"/>
          <p:cNvSpPr/>
          <p:nvPr/>
        </p:nvSpPr>
        <p:spPr>
          <a:xfrm>
            <a:off x="548640" y="3200400"/>
            <a:ext cx="67665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done-list"/>
          <p:cNvSpPr txBox="1"/>
          <p:nvPr/>
        </p:nvSpPr>
        <p:spPr>
          <a:xfrm>
            <a:off x="868680" y="338328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Company onboarding, GSTIN checks, brands and plants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Material data entry and Excel / CSV import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Target engine, dashboard and daily alerts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Certificates, recycler directory and fraud checks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AI extraction with human review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CPCB reports, calendar, reminders and audit log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500" dirty="0">
                <a:solidFill>
                  <a:schemeClr val="tx1"/>
                </a:solidFill>
              </a:rPr>
              <a:t>Landing page, pricing and consultant overview</a:t>
            </a:r>
            <a:endParaRPr lang="en-US" sz="1500" dirty="0"/>
          </a:p>
        </p:txBody>
      </p:sp>
      <p:sp>
        <p:nvSpPr>
          <p:cNvPr id="11" name="next"/>
          <p:cNvSpPr/>
          <p:nvPr/>
        </p:nvSpPr>
        <p:spPr>
          <a:xfrm>
            <a:off x="7635240" y="3200400"/>
            <a:ext cx="4007815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</p:sp>
      <p:sp>
        <p:nvSpPr>
          <p:cNvPr id="12" name="next-title"/>
          <p:cNvSpPr txBox="1"/>
          <p:nvPr/>
        </p:nvSpPr>
        <p:spPr>
          <a:xfrm>
            <a:off x="790956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</a:t>
            </a:r>
            <a:endParaRPr lang="en-US" sz="2000" dirty="0"/>
          </a:p>
        </p:txBody>
      </p:sp>
      <p:sp>
        <p:nvSpPr>
          <p:cNvPr id="13" name="next-list"/>
          <p:cNvSpPr txBox="1"/>
          <p:nvPr/>
        </p:nvSpPr>
        <p:spPr>
          <a:xfrm>
            <a:off x="7909560" y="38862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Pilot customers and consultants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Billing and plan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WhatsApp reminders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Recycler certificate marketplace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kicker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SEE IT IN ACTION</a:t>
            </a:r>
            <a:endParaRPr lang="en-US" sz="1400" dirty="0"/>
          </a:p>
        </p:txBody>
      </p:sp>
      <p:sp>
        <p:nvSpPr>
          <p:cNvPr id="3" name="close-title"/>
          <p:cNvSpPr txBox="1"/>
          <p:nvPr/>
        </p:nvSpPr>
        <p:spPr>
          <a:xfrm>
            <a:off x="548640" y="205740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From spreadsheets to certainty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474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Let's make EPR compliance effortless for every Indian brand.</a:t>
            </a:r>
            <a:endParaRPr lang="en-US" sz="2200" dirty="0"/>
          </a:p>
        </p:txBody>
      </p:sp>
      <p:sp>
        <p:nvSpPr>
          <p:cNvPr id="5" name="close-0-badge"/>
          <p:cNvSpPr/>
          <p:nvPr/>
        </p:nvSpPr>
        <p:spPr>
          <a:xfrm>
            <a:off x="6949440" y="1737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los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1901952"/>
            <a:ext cx="356616" cy="356616"/>
          </a:xfrm>
          <a:prstGeom prst="rect">
            <a:avLst/>
          </a:prstGeom>
        </p:spPr>
      </p:pic>
      <p:sp>
        <p:nvSpPr>
          <p:cNvPr id="7" name="close-0-title"/>
          <p:cNvSpPr txBox="1"/>
          <p:nvPr/>
        </p:nvSpPr>
        <p:spPr>
          <a:xfrm>
            <a:off x="786384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2-minute demo</a:t>
            </a:r>
            <a:endParaRPr lang="en-US" sz="1800" dirty="0"/>
          </a:p>
        </p:txBody>
      </p:sp>
      <p:sp>
        <p:nvSpPr>
          <p:cNvPr id="8" name="close-0-body"/>
          <p:cNvSpPr txBox="1"/>
          <p:nvPr/>
        </p:nvSpPr>
        <p:spPr>
          <a:xfrm>
            <a:off x="786384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eprflow-demo.mp4</a:t>
            </a:r>
            <a:endParaRPr lang="en-US" sz="1500" dirty="0"/>
          </a:p>
        </p:txBody>
      </p:sp>
      <p:sp>
        <p:nvSpPr>
          <p:cNvPr id="9" name="close-1-badge"/>
          <p:cNvSpPr/>
          <p:nvPr/>
        </p:nvSpPr>
        <p:spPr>
          <a:xfrm>
            <a:off x="6949440" y="2971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clos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3136392"/>
            <a:ext cx="356616" cy="356616"/>
          </a:xfrm>
          <a:prstGeom prst="rect">
            <a:avLst/>
          </a:prstGeom>
        </p:spPr>
      </p:pic>
      <p:sp>
        <p:nvSpPr>
          <p:cNvPr id="11" name="close-1-title"/>
          <p:cNvSpPr txBox="1"/>
          <p:nvPr/>
        </p:nvSpPr>
        <p:spPr>
          <a:xfrm>
            <a:off x="7863840" y="2953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Product</a:t>
            </a:r>
            <a:endParaRPr lang="en-US" sz="1800" dirty="0"/>
          </a:p>
        </p:txBody>
      </p:sp>
      <p:sp>
        <p:nvSpPr>
          <p:cNvPr id="12" name="close-1-body"/>
          <p:cNvSpPr txBox="1"/>
          <p:nvPr/>
        </p:nvSpPr>
        <p:spPr>
          <a:xfrm>
            <a:off x="786384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Landing page, pricing and free trial</a:t>
            </a:r>
            <a:endParaRPr lang="en-US" sz="1500" dirty="0"/>
          </a:p>
        </p:txBody>
      </p:sp>
      <p:sp>
        <p:nvSpPr>
          <p:cNvPr id="13" name="close-2-badge"/>
          <p:cNvSpPr/>
          <p:nvPr/>
        </p:nvSpPr>
        <p:spPr>
          <a:xfrm>
            <a:off x="6949440" y="42062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clos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4370832"/>
            <a:ext cx="356616" cy="356616"/>
          </a:xfrm>
          <a:prstGeom prst="rect">
            <a:avLst/>
          </a:prstGeom>
        </p:spPr>
      </p:pic>
      <p:sp>
        <p:nvSpPr>
          <p:cNvPr id="15" name="close-2-title"/>
          <p:cNvSpPr txBox="1"/>
          <p:nvPr/>
        </p:nvSpPr>
        <p:spPr>
          <a:xfrm>
            <a:off x="786384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Source</a:t>
            </a:r>
            <a:endParaRPr lang="en-US" sz="1800" dirty="0"/>
          </a:p>
        </p:txBody>
      </p:sp>
      <p:sp>
        <p:nvSpPr>
          <p:cNvPr id="16" name="close-2-body"/>
          <p:cNvSpPr txBox="1"/>
          <p:nvPr/>
        </p:nvSpPr>
        <p:spPr>
          <a:xfrm>
            <a:off x="786384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github.com/sanjaysaini383/EPR-Flow</a:t>
            </a:r>
            <a:endParaRPr lang="en-US" sz="15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2148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RFlow Forest">
  <a:themeElements>
    <a:clrScheme name="EPRFlow Forest">
      <a:dk1>
        <a:srgbClr val="17251D"/>
      </a:dk1>
      <a:lt1>
        <a:srgbClr val="FFFFFF"/>
      </a:lt1>
      <a:dk2>
        <a:srgbClr val="0E3B23"/>
      </a:dk2>
      <a:lt2>
        <a:srgbClr val="EEF6F0"/>
      </a:lt2>
      <a:accent1>
        <a:srgbClr val="1E8A4C"/>
      </a:accent1>
      <a:accent2>
        <a:srgbClr val="7EE2A0"/>
      </a:accent2>
      <a:accent3>
        <a:srgbClr val="E9A23B"/>
      </a:accent3>
      <a:accent4>
        <a:srgbClr val="3E6B53"/>
      </a:accent4>
      <a:accent5>
        <a:srgbClr val="CFE9D8"/>
      </a:accent5>
      <a:accent6>
        <a:srgbClr val="5E6B64"/>
      </a:accent6>
      <a:hlink>
        <a:srgbClr val="1E8A4C"/>
      </a:hlink>
      <a:folHlink>
        <a:srgbClr val="3E6B53"/>
      </a:folHlink>
    </a:clrScheme>
    <a:fontScheme name="EPRFlow Fore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EPRFlow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EPRFlow — Pitch deck</dc:title>
  <dc:subject>PptxGenJS Presentation</dc:subject>
  <dc:creator>EPRFlow</dc:creator>
  <cp:lastModifiedBy>EPRFlow</cp:lastModifiedBy>
  <cp:revision>1</cp:revision>
  <dcterms:created xsi:type="dcterms:W3CDTF">2026-10-22T19:10:19Z</dcterms:created>
  <dcterms:modified xsi:type="dcterms:W3CDTF">2026-10-22T19:10:19Z</dcterms:modified>
</cp:coreProperties>
</file>